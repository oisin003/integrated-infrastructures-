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354" r:id="rId5"/>
    <p:sldId id="259" r:id="rId6"/>
    <p:sldId id="260" r:id="rId7"/>
    <p:sldId id="261" r:id="rId8"/>
    <p:sldId id="262" r:id="rId9"/>
    <p:sldId id="263" r:id="rId10"/>
    <p:sldId id="264" r:id="rId11"/>
    <p:sldId id="266" r:id="rId12"/>
    <p:sldId id="265" r:id="rId13"/>
    <p:sldId id="267" r:id="rId14"/>
    <p:sldId id="268" r:id="rId15"/>
    <p:sldId id="269" r:id="rId16"/>
    <p:sldId id="287" r:id="rId17"/>
    <p:sldId id="349" r:id="rId18"/>
    <p:sldId id="270" r:id="rId19"/>
    <p:sldId id="271" r:id="rId20"/>
    <p:sldId id="355" r:id="rId21"/>
    <p:sldId id="272" r:id="rId22"/>
    <p:sldId id="273" r:id="rId23"/>
    <p:sldId id="274" r:id="rId24"/>
    <p:sldId id="350"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351" r:id="rId38"/>
    <p:sldId id="288" r:id="rId39"/>
    <p:sldId id="290" r:id="rId40"/>
    <p:sldId id="289" r:id="rId41"/>
    <p:sldId id="291" r:id="rId42"/>
    <p:sldId id="292" r:id="rId43"/>
    <p:sldId id="294" r:id="rId44"/>
    <p:sldId id="352" r:id="rId45"/>
    <p:sldId id="295" r:id="rId46"/>
    <p:sldId id="296" r:id="rId47"/>
    <p:sldId id="293" r:id="rId48"/>
    <p:sldId id="341" r:id="rId49"/>
    <p:sldId id="297" r:id="rId50"/>
    <p:sldId id="298" r:id="rId51"/>
    <p:sldId id="353" r:id="rId52"/>
    <p:sldId id="299" r:id="rId53"/>
    <p:sldId id="300" r:id="rId54"/>
    <p:sldId id="303" r:id="rId55"/>
    <p:sldId id="302" r:id="rId56"/>
    <p:sldId id="304" r:id="rId57"/>
    <p:sldId id="301" r:id="rId58"/>
    <p:sldId id="305" r:id="rId59"/>
    <p:sldId id="306" r:id="rId60"/>
    <p:sldId id="307" r:id="rId61"/>
    <p:sldId id="309" r:id="rId62"/>
    <p:sldId id="310" r:id="rId63"/>
    <p:sldId id="308" r:id="rId64"/>
    <p:sldId id="311" r:id="rId65"/>
    <p:sldId id="312" r:id="rId66"/>
    <p:sldId id="313" r:id="rId67"/>
    <p:sldId id="314" r:id="rId68"/>
    <p:sldId id="315" r:id="rId69"/>
    <p:sldId id="316" r:id="rId70"/>
    <p:sldId id="317" r:id="rId71"/>
    <p:sldId id="319" r:id="rId72"/>
    <p:sldId id="318" r:id="rId73"/>
    <p:sldId id="320" r:id="rId74"/>
    <p:sldId id="321" r:id="rId75"/>
    <p:sldId id="322" r:id="rId76"/>
    <p:sldId id="323" r:id="rId77"/>
    <p:sldId id="324" r:id="rId78"/>
    <p:sldId id="325" r:id="rId79"/>
    <p:sldId id="326" r:id="rId80"/>
    <p:sldId id="327" r:id="rId81"/>
    <p:sldId id="328" r:id="rId82"/>
    <p:sldId id="329" r:id="rId83"/>
    <p:sldId id="330" r:id="rId84"/>
    <p:sldId id="331" r:id="rId85"/>
    <p:sldId id="333" r:id="rId86"/>
    <p:sldId id="332" r:id="rId87"/>
    <p:sldId id="342" r:id="rId88"/>
    <p:sldId id="334" r:id="rId89"/>
    <p:sldId id="335" r:id="rId90"/>
    <p:sldId id="336" r:id="rId91"/>
    <p:sldId id="337" r:id="rId92"/>
    <p:sldId id="338" r:id="rId93"/>
    <p:sldId id="339" r:id="rId94"/>
    <p:sldId id="340" r:id="rId95"/>
    <p:sldId id="343" r:id="rId96"/>
    <p:sldId id="344" r:id="rId97"/>
    <p:sldId id="345" r:id="rId98"/>
    <p:sldId id="346" r:id="rId99"/>
    <p:sldId id="347" r:id="rId100"/>
    <p:sldId id="348" r:id="rId101"/>
    <p:sldId id="356" r:id="rId102"/>
    <p:sldId id="358" r:id="rId103"/>
    <p:sldId id="357" r:id="rId10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8" d="100"/>
          <a:sy n="58" d="100"/>
        </p:scale>
        <p:origin x="1524" y="66"/>
      </p:cViewPr>
      <p:guideLst>
        <p:guide orient="horz" pos="2160"/>
        <p:guide pos="2880"/>
      </p:guideLst>
    </p:cSldViewPr>
  </p:slideViewPr>
  <p:notesTextViewPr>
    <p:cViewPr>
      <p:scale>
        <a:sx n="100" d="100"/>
        <a:sy n="100" d="100"/>
      </p:scale>
      <p:origin x="0" y="0"/>
    </p:cViewPr>
  </p:notesTextViewPr>
  <p:sorterViewPr>
    <p:cViewPr varScale="1">
      <p:scale>
        <a:sx n="1" d="1"/>
        <a:sy n="1" d="1"/>
      </p:scale>
      <p:origin x="0" y="-3369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theme" Target="theme/theme1.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E"/>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E"/>
          </a:p>
        </p:txBody>
      </p:sp>
      <p:sp>
        <p:nvSpPr>
          <p:cNvPr id="4" name="Date Placeholder 3"/>
          <p:cNvSpPr>
            <a:spLocks noGrp="1"/>
          </p:cNvSpPr>
          <p:nvPr>
            <p:ph type="dt" sz="half" idx="10"/>
          </p:nvPr>
        </p:nvSpPr>
        <p:spPr/>
        <p:txBody>
          <a:bodyPr/>
          <a:lstStyle/>
          <a:p>
            <a:fld id="{9904C224-A7CD-4C26-A17D-E68EF42B5FF0}" type="datetimeFigureOut">
              <a:rPr lang="en-IE" smtClean="0"/>
              <a:pPr/>
              <a:t>11/10/2024</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B425709A-2784-45A5-87F9-0462E782E0B1}" type="slidenum">
              <a:rPr lang="en-IE" smtClean="0"/>
              <a:pPr/>
              <a:t>‹#›</a:t>
            </a:fld>
            <a:endParaRPr lang="en-I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p:cNvSpPr>
            <a:spLocks noGrp="1"/>
          </p:cNvSpPr>
          <p:nvPr>
            <p:ph type="dt" sz="half" idx="10"/>
          </p:nvPr>
        </p:nvSpPr>
        <p:spPr/>
        <p:txBody>
          <a:bodyPr/>
          <a:lstStyle/>
          <a:p>
            <a:fld id="{9904C224-A7CD-4C26-A17D-E68EF42B5FF0}" type="datetimeFigureOut">
              <a:rPr lang="en-IE" smtClean="0"/>
              <a:pPr/>
              <a:t>11/10/2024</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B425709A-2784-45A5-87F9-0462E782E0B1}" type="slidenum">
              <a:rPr lang="en-IE" smtClean="0"/>
              <a:pPr/>
              <a:t>‹#›</a:t>
            </a:fld>
            <a:endParaRPr lang="en-I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E"/>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904C224-A7CD-4C26-A17D-E68EF42B5FF0}" type="datetimeFigureOut">
              <a:rPr lang="en-IE" smtClean="0"/>
              <a:pPr/>
              <a:t>11/10/2024</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B425709A-2784-45A5-87F9-0462E782E0B1}" type="slidenum">
              <a:rPr lang="en-IE" smtClean="0"/>
              <a:pPr/>
              <a:t>‹#›</a:t>
            </a:fld>
            <a:endParaRPr lang="en-I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Date Placeholder 4"/>
          <p:cNvSpPr>
            <a:spLocks noGrp="1"/>
          </p:cNvSpPr>
          <p:nvPr>
            <p:ph type="dt" sz="half" idx="10"/>
          </p:nvPr>
        </p:nvSpPr>
        <p:spPr/>
        <p:txBody>
          <a:bodyPr/>
          <a:lstStyle/>
          <a:p>
            <a:fld id="{9904C224-A7CD-4C26-A17D-E68EF42B5FF0}" type="datetimeFigureOut">
              <a:rPr lang="en-IE" smtClean="0"/>
              <a:pPr/>
              <a:t>11/10/2024</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B425709A-2784-45A5-87F9-0462E782E0B1}" type="slidenum">
              <a:rPr lang="en-IE" smtClean="0"/>
              <a:pPr/>
              <a:t>‹#›</a:t>
            </a:fld>
            <a:endParaRPr lang="en-I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E"/>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7" name="Date Placeholder 6"/>
          <p:cNvSpPr>
            <a:spLocks noGrp="1"/>
          </p:cNvSpPr>
          <p:nvPr>
            <p:ph type="dt" sz="half" idx="10"/>
          </p:nvPr>
        </p:nvSpPr>
        <p:spPr/>
        <p:txBody>
          <a:bodyPr/>
          <a:lstStyle/>
          <a:p>
            <a:fld id="{9904C224-A7CD-4C26-A17D-E68EF42B5FF0}" type="datetimeFigureOut">
              <a:rPr lang="en-IE" smtClean="0"/>
              <a:pPr/>
              <a:t>11/10/2024</a:t>
            </a:fld>
            <a:endParaRPr lang="en-IE"/>
          </a:p>
        </p:txBody>
      </p:sp>
      <p:sp>
        <p:nvSpPr>
          <p:cNvPr id="8" name="Footer Placeholder 7"/>
          <p:cNvSpPr>
            <a:spLocks noGrp="1"/>
          </p:cNvSpPr>
          <p:nvPr>
            <p:ph type="ftr" sz="quarter" idx="11"/>
          </p:nvPr>
        </p:nvSpPr>
        <p:spPr/>
        <p:txBody>
          <a:bodyPr/>
          <a:lstStyle/>
          <a:p>
            <a:endParaRPr lang="en-IE"/>
          </a:p>
        </p:txBody>
      </p:sp>
      <p:sp>
        <p:nvSpPr>
          <p:cNvPr id="9" name="Slide Number Placeholder 8"/>
          <p:cNvSpPr>
            <a:spLocks noGrp="1"/>
          </p:cNvSpPr>
          <p:nvPr>
            <p:ph type="sldNum" sz="quarter" idx="12"/>
          </p:nvPr>
        </p:nvSpPr>
        <p:spPr/>
        <p:txBody>
          <a:bodyPr/>
          <a:lstStyle/>
          <a:p>
            <a:fld id="{B425709A-2784-45A5-87F9-0462E782E0B1}" type="slidenum">
              <a:rPr lang="en-IE" smtClean="0"/>
              <a:pPr/>
              <a:t>‹#›</a:t>
            </a:fld>
            <a:endParaRPr lang="en-I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Date Placeholder 2"/>
          <p:cNvSpPr>
            <a:spLocks noGrp="1"/>
          </p:cNvSpPr>
          <p:nvPr>
            <p:ph type="dt" sz="half" idx="10"/>
          </p:nvPr>
        </p:nvSpPr>
        <p:spPr/>
        <p:txBody>
          <a:bodyPr/>
          <a:lstStyle/>
          <a:p>
            <a:fld id="{9904C224-A7CD-4C26-A17D-E68EF42B5FF0}" type="datetimeFigureOut">
              <a:rPr lang="en-IE" smtClean="0"/>
              <a:pPr/>
              <a:t>11/10/2024</a:t>
            </a:fld>
            <a:endParaRPr lang="en-IE"/>
          </a:p>
        </p:txBody>
      </p:sp>
      <p:sp>
        <p:nvSpPr>
          <p:cNvPr id="4" name="Footer Placeholder 3"/>
          <p:cNvSpPr>
            <a:spLocks noGrp="1"/>
          </p:cNvSpPr>
          <p:nvPr>
            <p:ph type="ftr" sz="quarter" idx="11"/>
          </p:nvPr>
        </p:nvSpPr>
        <p:spPr/>
        <p:txBody>
          <a:bodyPr/>
          <a:lstStyle/>
          <a:p>
            <a:endParaRPr lang="en-IE"/>
          </a:p>
        </p:txBody>
      </p:sp>
      <p:sp>
        <p:nvSpPr>
          <p:cNvPr id="5" name="Slide Number Placeholder 4"/>
          <p:cNvSpPr>
            <a:spLocks noGrp="1"/>
          </p:cNvSpPr>
          <p:nvPr>
            <p:ph type="sldNum" sz="quarter" idx="12"/>
          </p:nvPr>
        </p:nvSpPr>
        <p:spPr/>
        <p:txBody>
          <a:bodyPr/>
          <a:lstStyle/>
          <a:p>
            <a:fld id="{B425709A-2784-45A5-87F9-0462E782E0B1}" type="slidenum">
              <a:rPr lang="en-IE" smtClean="0"/>
              <a:pPr/>
              <a:t>‹#›</a:t>
            </a:fld>
            <a:endParaRPr lang="en-I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904C224-A7CD-4C26-A17D-E68EF42B5FF0}" type="datetimeFigureOut">
              <a:rPr lang="en-IE" smtClean="0"/>
              <a:pPr/>
              <a:t>11/10/2024</a:t>
            </a:fld>
            <a:endParaRPr lang="en-IE"/>
          </a:p>
        </p:txBody>
      </p:sp>
      <p:sp>
        <p:nvSpPr>
          <p:cNvPr id="3" name="Footer Placeholder 2"/>
          <p:cNvSpPr>
            <a:spLocks noGrp="1"/>
          </p:cNvSpPr>
          <p:nvPr>
            <p:ph type="ftr" sz="quarter" idx="11"/>
          </p:nvPr>
        </p:nvSpPr>
        <p:spPr/>
        <p:txBody>
          <a:bodyPr/>
          <a:lstStyle/>
          <a:p>
            <a:endParaRPr lang="en-IE"/>
          </a:p>
        </p:txBody>
      </p:sp>
      <p:sp>
        <p:nvSpPr>
          <p:cNvPr id="4" name="Slide Number Placeholder 3"/>
          <p:cNvSpPr>
            <a:spLocks noGrp="1"/>
          </p:cNvSpPr>
          <p:nvPr>
            <p:ph type="sldNum" sz="quarter" idx="12"/>
          </p:nvPr>
        </p:nvSpPr>
        <p:spPr/>
        <p:txBody>
          <a:bodyPr/>
          <a:lstStyle/>
          <a:p>
            <a:fld id="{B425709A-2784-45A5-87F9-0462E782E0B1}" type="slidenum">
              <a:rPr lang="en-IE" smtClean="0"/>
              <a:pPr/>
              <a:t>‹#›</a:t>
            </a:fld>
            <a:endParaRPr lang="en-I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E"/>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904C224-A7CD-4C26-A17D-E68EF42B5FF0}" type="datetimeFigureOut">
              <a:rPr lang="en-IE" smtClean="0"/>
              <a:pPr/>
              <a:t>11/10/2024</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B425709A-2784-45A5-87F9-0462E782E0B1}" type="slidenum">
              <a:rPr lang="en-IE" smtClean="0"/>
              <a:pPr/>
              <a:t>‹#›</a:t>
            </a:fld>
            <a:endParaRPr lang="en-I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E"/>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E"/>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904C224-A7CD-4C26-A17D-E68EF42B5FF0}" type="datetimeFigureOut">
              <a:rPr lang="en-IE" smtClean="0"/>
              <a:pPr/>
              <a:t>11/10/2024</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B425709A-2784-45A5-87F9-0462E782E0B1}" type="slidenum">
              <a:rPr lang="en-IE" smtClean="0"/>
              <a:pPr/>
              <a:t>‹#›</a:t>
            </a:fld>
            <a:endParaRPr lang="en-I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p:cNvSpPr>
            <a:spLocks noGrp="1"/>
          </p:cNvSpPr>
          <p:nvPr>
            <p:ph type="dt" sz="half" idx="10"/>
          </p:nvPr>
        </p:nvSpPr>
        <p:spPr/>
        <p:txBody>
          <a:bodyPr/>
          <a:lstStyle/>
          <a:p>
            <a:fld id="{9904C224-A7CD-4C26-A17D-E68EF42B5FF0}" type="datetimeFigureOut">
              <a:rPr lang="en-IE" smtClean="0"/>
              <a:pPr/>
              <a:t>11/10/2024</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B425709A-2784-45A5-87F9-0462E782E0B1}" type="slidenum">
              <a:rPr lang="en-IE" smtClean="0"/>
              <a:pPr/>
              <a:t>‹#›</a:t>
            </a:fld>
            <a:endParaRPr lang="en-I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E"/>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p:cNvSpPr>
            <a:spLocks noGrp="1"/>
          </p:cNvSpPr>
          <p:nvPr>
            <p:ph type="dt" sz="half" idx="10"/>
          </p:nvPr>
        </p:nvSpPr>
        <p:spPr/>
        <p:txBody>
          <a:bodyPr/>
          <a:lstStyle/>
          <a:p>
            <a:fld id="{9904C224-A7CD-4C26-A17D-E68EF42B5FF0}" type="datetimeFigureOut">
              <a:rPr lang="en-IE" smtClean="0"/>
              <a:pPr/>
              <a:t>11/10/2024</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B425709A-2784-45A5-87F9-0462E782E0B1}" type="slidenum">
              <a:rPr lang="en-IE" smtClean="0"/>
              <a:pPr/>
              <a:t>‹#›</a:t>
            </a:fld>
            <a:endParaRPr lang="en-IE"/>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E"/>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904C224-A7CD-4C26-A17D-E68EF42B5FF0}" type="datetimeFigureOut">
              <a:rPr lang="en-IE" smtClean="0"/>
              <a:pPr/>
              <a:t>11/10/2024</a:t>
            </a:fld>
            <a:endParaRPr lang="en-IE"/>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E"/>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25709A-2784-45A5-87F9-0462E782E0B1}" type="slidenum">
              <a:rPr lang="en-IE" smtClean="0"/>
              <a:pPr/>
              <a:t>‹#›</a:t>
            </a:fld>
            <a:endParaRPr lang="en-I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E" dirty="0"/>
              <a:t>ACL</a:t>
            </a:r>
          </a:p>
        </p:txBody>
      </p:sp>
      <p:sp>
        <p:nvSpPr>
          <p:cNvPr id="3" name="Subtitle 2"/>
          <p:cNvSpPr>
            <a:spLocks noGrp="1"/>
          </p:cNvSpPr>
          <p:nvPr>
            <p:ph type="subTitle" idx="1"/>
          </p:nvPr>
        </p:nvSpPr>
        <p:spPr/>
        <p:txBody>
          <a:bodyPr/>
          <a:lstStyle/>
          <a:p>
            <a:r>
              <a:rPr lang="en-IE" dirty="0"/>
              <a:t>Access Control Lists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lstStyle/>
          <a:p>
            <a:r>
              <a:rPr lang="en-IE" dirty="0"/>
              <a:t>On a Cisco router, you can configure a simple firewall that provides basic traffic filtering capabilities using </a:t>
            </a:r>
            <a:r>
              <a:rPr lang="en-IE" dirty="0" err="1"/>
              <a:t>ACLs</a:t>
            </a:r>
            <a:r>
              <a:rPr lang="en-IE" dirty="0"/>
              <a:t>.</a:t>
            </a:r>
          </a:p>
          <a:p>
            <a:r>
              <a:rPr lang="en-IE" dirty="0"/>
              <a:t> Administrators use </a:t>
            </a:r>
            <a:r>
              <a:rPr lang="en-IE" dirty="0" err="1"/>
              <a:t>ACLs</a:t>
            </a:r>
            <a:r>
              <a:rPr lang="en-IE" dirty="0"/>
              <a:t> to stop traffic or permit only specified traffic on their networks.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lstStyle/>
          <a:p>
            <a:r>
              <a:rPr lang="en-IE" dirty="0"/>
              <a:t>An ACL is a </a:t>
            </a:r>
            <a:r>
              <a:rPr lang="en-IE" b="1" u="sng" dirty="0"/>
              <a:t>sequential</a:t>
            </a:r>
            <a:r>
              <a:rPr lang="en-IE" dirty="0"/>
              <a:t> list of permit or deny statements that apply to addresses or upper-layer protocols.</a:t>
            </a:r>
          </a:p>
          <a:p>
            <a:r>
              <a:rPr lang="en-IE" dirty="0"/>
              <a:t> </a:t>
            </a:r>
            <a:r>
              <a:rPr lang="en-IE" dirty="0" err="1"/>
              <a:t>ACLs</a:t>
            </a:r>
            <a:r>
              <a:rPr lang="en-IE" dirty="0"/>
              <a:t> provide a powerful way to control traffic into and out of a network.</a:t>
            </a:r>
          </a:p>
          <a:p>
            <a:r>
              <a:rPr lang="en-IE" dirty="0"/>
              <a:t> </a:t>
            </a:r>
            <a:r>
              <a:rPr lang="en-IE" dirty="0" err="1"/>
              <a:t>ACLs</a:t>
            </a:r>
            <a:r>
              <a:rPr lang="en-IE" dirty="0"/>
              <a:t> can be configured for all routed network protocols.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E3A31-85B1-709A-AE02-CE7B23D8A89A}"/>
              </a:ext>
            </a:extLst>
          </p:cNvPr>
          <p:cNvSpPr>
            <a:spLocks noGrp="1"/>
          </p:cNvSpPr>
          <p:nvPr>
            <p:ph type="title"/>
          </p:nvPr>
        </p:nvSpPr>
        <p:spPr/>
        <p:txBody>
          <a:bodyPr/>
          <a:lstStyle/>
          <a:p>
            <a:r>
              <a:rPr lang="en-US" dirty="0"/>
              <a:t>Two Steps to configure</a:t>
            </a:r>
            <a:endParaRPr lang="en-IE" dirty="0"/>
          </a:p>
        </p:txBody>
      </p:sp>
      <p:sp>
        <p:nvSpPr>
          <p:cNvPr id="3" name="Content Placeholder 2">
            <a:extLst>
              <a:ext uri="{FF2B5EF4-FFF2-40B4-BE49-F238E27FC236}">
                <a16:creationId xmlns:a16="http://schemas.microsoft.com/office/drawing/2014/main" id="{089B3800-6654-46F8-3811-A10F7CCF3DC8}"/>
              </a:ext>
            </a:extLst>
          </p:cNvPr>
          <p:cNvSpPr>
            <a:spLocks noGrp="1"/>
          </p:cNvSpPr>
          <p:nvPr>
            <p:ph idx="1"/>
          </p:nvPr>
        </p:nvSpPr>
        <p:spPr/>
        <p:txBody>
          <a:bodyPr/>
          <a:lstStyle/>
          <a:p>
            <a:r>
              <a:rPr lang="en-US" dirty="0"/>
              <a:t>Write the List in global configuration mode.</a:t>
            </a:r>
          </a:p>
          <a:p>
            <a:r>
              <a:rPr lang="en-US" dirty="0"/>
              <a:t>Attach the list to a particular interface on the router =interface mode.</a:t>
            </a:r>
            <a:endParaRPr lang="en-IE" dirty="0"/>
          </a:p>
        </p:txBody>
      </p:sp>
    </p:spTree>
    <p:extLst>
      <p:ext uri="{BB962C8B-B14F-4D97-AF65-F5344CB8AC3E}">
        <p14:creationId xmlns:p14="http://schemas.microsoft.com/office/powerpoint/2010/main" val="34640082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pic>
        <p:nvPicPr>
          <p:cNvPr id="1026" name="Picture 2"/>
          <p:cNvPicPr>
            <a:picLocks noGrp="1" noChangeAspect="1" noChangeArrowheads="1"/>
          </p:cNvPicPr>
          <p:nvPr>
            <p:ph idx="1"/>
          </p:nvPr>
        </p:nvPicPr>
        <p:blipFill>
          <a:blip r:embed="rId2" cstate="print"/>
          <a:srcRect/>
          <a:stretch>
            <a:fillRect/>
          </a:stretch>
        </p:blipFill>
        <p:spPr bwMode="auto">
          <a:xfrm>
            <a:off x="1973244" y="1600200"/>
            <a:ext cx="5197512" cy="4525963"/>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lstStyle/>
          <a:p>
            <a:r>
              <a:rPr lang="en-IE" dirty="0" err="1"/>
              <a:t>ACLs</a:t>
            </a:r>
            <a:r>
              <a:rPr lang="en-IE" dirty="0"/>
              <a:t> enable administrators to control traffic into and out of a network.</a:t>
            </a:r>
          </a:p>
          <a:p>
            <a:r>
              <a:rPr lang="en-IE" dirty="0"/>
              <a:t>This control can be as simple as permitting or denying traffic based on network addresses or as complex as controlling network traffic based on the TCP port being requested, = (Extended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Port Numbers</a:t>
            </a:r>
          </a:p>
        </p:txBody>
      </p:sp>
      <p:pic>
        <p:nvPicPr>
          <p:cNvPr id="2050" name="Picture 2"/>
          <p:cNvPicPr>
            <a:picLocks noGrp="1" noChangeAspect="1" noChangeArrowheads="1"/>
          </p:cNvPicPr>
          <p:nvPr>
            <p:ph idx="1"/>
          </p:nvPr>
        </p:nvPicPr>
        <p:blipFill>
          <a:blip r:embed="rId2" cstate="print"/>
          <a:srcRect/>
          <a:stretch>
            <a:fillRect/>
          </a:stretch>
        </p:blipFill>
        <p:spPr bwMode="auto">
          <a:xfrm>
            <a:off x="2136914" y="1600200"/>
            <a:ext cx="4870171" cy="4525963"/>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normAutofit fontScale="92500"/>
          </a:bodyPr>
          <a:lstStyle/>
          <a:p>
            <a:r>
              <a:rPr lang="en-IE" dirty="0"/>
              <a:t>A router acts as a </a:t>
            </a:r>
            <a:r>
              <a:rPr lang="en-IE" u="sng" dirty="0"/>
              <a:t>packet filter </a:t>
            </a:r>
            <a:r>
              <a:rPr lang="en-IE" dirty="0"/>
              <a:t>when it forwards or denies packets according to filtering rules.</a:t>
            </a:r>
          </a:p>
          <a:p>
            <a:r>
              <a:rPr lang="en-IE" dirty="0"/>
              <a:t>When a packet arrives at the packet-filtering router, the router extracts certain information from the packet header.</a:t>
            </a:r>
          </a:p>
          <a:p>
            <a:r>
              <a:rPr lang="en-IE" dirty="0"/>
              <a:t>Using this information, the router makes decisions, based on configured filter rules, as to whether the packet can pass through or be discarded.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lstStyle/>
          <a:p>
            <a:r>
              <a:rPr lang="en-IE" dirty="0"/>
              <a:t>The two types of Cisco IPv4 </a:t>
            </a:r>
            <a:r>
              <a:rPr lang="en-IE" dirty="0" err="1"/>
              <a:t>ACLs</a:t>
            </a:r>
            <a:r>
              <a:rPr lang="en-IE" dirty="0"/>
              <a:t> are</a:t>
            </a:r>
          </a:p>
          <a:p>
            <a:r>
              <a:rPr lang="en-IE" dirty="0"/>
              <a:t> standard</a:t>
            </a:r>
          </a:p>
          <a:p>
            <a:r>
              <a:rPr lang="en-IE" dirty="0"/>
              <a:t> extended.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normAutofit/>
          </a:bodyPr>
          <a:lstStyle/>
          <a:p>
            <a:r>
              <a:rPr lang="en-IE" b="1" dirty="0"/>
              <a:t>Standard </a:t>
            </a:r>
            <a:r>
              <a:rPr lang="en-IE" b="1" dirty="0" err="1"/>
              <a:t>ACLs</a:t>
            </a:r>
            <a:endParaRPr lang="en-IE" dirty="0"/>
          </a:p>
          <a:p>
            <a:r>
              <a:rPr lang="en-IE" dirty="0"/>
              <a:t>Standard </a:t>
            </a:r>
            <a:r>
              <a:rPr lang="en-IE" dirty="0" err="1"/>
              <a:t>ACLs</a:t>
            </a:r>
            <a:r>
              <a:rPr lang="en-IE" dirty="0"/>
              <a:t> can be used to permit or deny traffic only from </a:t>
            </a:r>
            <a:r>
              <a:rPr lang="en-IE" b="1" u="sng" dirty="0"/>
              <a:t>source </a:t>
            </a:r>
            <a:r>
              <a:rPr lang="en-IE" dirty="0"/>
              <a:t>IPv4 addresses.</a:t>
            </a:r>
          </a:p>
          <a:p>
            <a:r>
              <a:rPr lang="en-IE" dirty="0"/>
              <a:t> The destination of the packet and the ports involved are not evaluated. </a:t>
            </a:r>
          </a:p>
          <a:p>
            <a:endParaRPr lang="en-IE" dirty="0"/>
          </a:p>
          <a:p>
            <a:endParaRPr lang="en-IE"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Standard = Simple</a:t>
            </a:r>
            <a:endParaRPr lang="en-IE" dirty="0"/>
          </a:p>
        </p:txBody>
      </p:sp>
      <p:pic>
        <p:nvPicPr>
          <p:cNvPr id="3074" name="Picture 2"/>
          <p:cNvPicPr>
            <a:picLocks noGrp="1" noChangeAspect="1" noChangeArrowheads="1"/>
          </p:cNvPicPr>
          <p:nvPr>
            <p:ph idx="1"/>
          </p:nvPr>
        </p:nvPicPr>
        <p:blipFill>
          <a:blip r:embed="rId2" cstate="print"/>
          <a:srcRect/>
          <a:stretch>
            <a:fillRect/>
          </a:stretch>
        </p:blipFill>
        <p:spPr bwMode="auto">
          <a:xfrm>
            <a:off x="1395412" y="2296319"/>
            <a:ext cx="6353175" cy="3133725"/>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Previous slide =</a:t>
            </a:r>
            <a:endParaRPr lang="en-IE" dirty="0"/>
          </a:p>
        </p:txBody>
      </p:sp>
      <p:sp>
        <p:nvSpPr>
          <p:cNvPr id="3" name="Content Placeholder 2"/>
          <p:cNvSpPr>
            <a:spLocks noGrp="1"/>
          </p:cNvSpPr>
          <p:nvPr>
            <p:ph idx="1"/>
          </p:nvPr>
        </p:nvSpPr>
        <p:spPr/>
        <p:txBody>
          <a:bodyPr/>
          <a:lstStyle/>
          <a:p>
            <a:r>
              <a:rPr lang="en-IE" dirty="0"/>
              <a:t>allows all traffic from the 192.168.30.0/24 network. </a:t>
            </a:r>
          </a:p>
          <a:p>
            <a:r>
              <a:rPr lang="en-IE" dirty="0"/>
              <a:t>Because of the implied "deny any" at the end, all other traffic is blocked with this ACL. </a:t>
            </a:r>
          </a:p>
          <a:p>
            <a:r>
              <a:rPr lang="en-IE" dirty="0"/>
              <a:t>Standard </a:t>
            </a:r>
            <a:r>
              <a:rPr lang="en-IE" dirty="0" err="1"/>
              <a:t>ACLs</a:t>
            </a:r>
            <a:r>
              <a:rPr lang="en-IE" dirty="0"/>
              <a:t> are created in global configuration mode.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Extended =more complex </a:t>
            </a:r>
            <a:endParaRPr lang="en-IE" dirty="0"/>
          </a:p>
        </p:txBody>
      </p:sp>
      <p:sp>
        <p:nvSpPr>
          <p:cNvPr id="3" name="Content Placeholder 2"/>
          <p:cNvSpPr>
            <a:spLocks noGrp="1"/>
          </p:cNvSpPr>
          <p:nvPr>
            <p:ph idx="1"/>
          </p:nvPr>
        </p:nvSpPr>
        <p:spPr/>
        <p:txBody>
          <a:bodyPr>
            <a:normAutofit fontScale="92500" lnSpcReduction="20000"/>
          </a:bodyPr>
          <a:lstStyle/>
          <a:p>
            <a:r>
              <a:rPr lang="en-IE" b="1" dirty="0"/>
              <a:t>Extended </a:t>
            </a:r>
            <a:r>
              <a:rPr lang="en-IE" b="1" dirty="0" err="1"/>
              <a:t>ACLs</a:t>
            </a:r>
            <a:endParaRPr lang="en-IE" dirty="0"/>
          </a:p>
          <a:p>
            <a:r>
              <a:rPr lang="en-IE" dirty="0"/>
              <a:t>Extended </a:t>
            </a:r>
            <a:r>
              <a:rPr lang="en-IE" dirty="0" err="1"/>
              <a:t>ACLs</a:t>
            </a:r>
            <a:r>
              <a:rPr lang="en-IE" dirty="0"/>
              <a:t> filter IPv4 packets based on several attributes:</a:t>
            </a:r>
          </a:p>
          <a:p>
            <a:r>
              <a:rPr lang="en-IE" dirty="0"/>
              <a:t>Protocol type</a:t>
            </a:r>
          </a:p>
          <a:p>
            <a:r>
              <a:rPr lang="en-IE" dirty="0"/>
              <a:t>Source IPv4 address</a:t>
            </a:r>
          </a:p>
          <a:p>
            <a:r>
              <a:rPr lang="en-IE" dirty="0"/>
              <a:t>Destination IPv4 address</a:t>
            </a:r>
          </a:p>
          <a:p>
            <a:r>
              <a:rPr lang="en-IE" dirty="0"/>
              <a:t>Source TCP or UDP ports</a:t>
            </a:r>
          </a:p>
          <a:p>
            <a:r>
              <a:rPr lang="en-IE" dirty="0"/>
              <a:t>Destination TCP or UDP ports</a:t>
            </a:r>
          </a:p>
          <a:p>
            <a:r>
              <a:rPr lang="en-IE" dirty="0"/>
              <a:t>Optional protocol type information for finer control</a:t>
            </a:r>
          </a:p>
          <a:p>
            <a:endParaRPr lang="en-IE"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Extended ACL</a:t>
            </a:r>
            <a:endParaRPr lang="en-IE" dirty="0"/>
          </a:p>
        </p:txBody>
      </p:sp>
      <p:pic>
        <p:nvPicPr>
          <p:cNvPr id="4098" name="Picture 2"/>
          <p:cNvPicPr>
            <a:picLocks noGrp="1" noChangeAspect="1" noChangeArrowheads="1"/>
          </p:cNvPicPr>
          <p:nvPr>
            <p:ph idx="1"/>
          </p:nvPr>
        </p:nvPicPr>
        <p:blipFill>
          <a:blip r:embed="rId2" cstate="print"/>
          <a:srcRect/>
          <a:stretch>
            <a:fillRect/>
          </a:stretch>
        </p:blipFill>
        <p:spPr bwMode="auto">
          <a:xfrm>
            <a:off x="1333500" y="2010569"/>
            <a:ext cx="6477000" cy="3705225"/>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Previous Slide</a:t>
            </a:r>
            <a:endParaRPr lang="en-IE" dirty="0"/>
          </a:p>
        </p:txBody>
      </p:sp>
      <p:sp>
        <p:nvSpPr>
          <p:cNvPr id="3" name="Content Placeholder 2"/>
          <p:cNvSpPr>
            <a:spLocks noGrp="1"/>
          </p:cNvSpPr>
          <p:nvPr>
            <p:ph idx="1"/>
          </p:nvPr>
        </p:nvSpPr>
        <p:spPr/>
        <p:txBody>
          <a:bodyPr/>
          <a:lstStyle/>
          <a:p>
            <a:r>
              <a:rPr lang="en-IE" dirty="0"/>
              <a:t>ACL 103 permits traffic originating from any address on the 192.168.30.0/24 network to any IPv4 network if the destination host port is 80 (HTTP).</a:t>
            </a:r>
          </a:p>
          <a:p>
            <a:r>
              <a:rPr lang="en-IE" dirty="0"/>
              <a:t> Extended </a:t>
            </a:r>
            <a:r>
              <a:rPr lang="en-IE" dirty="0" err="1"/>
              <a:t>ACLs</a:t>
            </a:r>
            <a:r>
              <a:rPr lang="en-IE" dirty="0"/>
              <a:t> are created in global configuration mode.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Number/Name</a:t>
            </a:r>
            <a:endParaRPr lang="en-IE" dirty="0"/>
          </a:p>
        </p:txBody>
      </p:sp>
      <p:sp>
        <p:nvSpPr>
          <p:cNvPr id="3" name="Content Placeholder 2"/>
          <p:cNvSpPr>
            <a:spLocks noGrp="1"/>
          </p:cNvSpPr>
          <p:nvPr>
            <p:ph idx="1"/>
          </p:nvPr>
        </p:nvSpPr>
        <p:spPr/>
        <p:txBody>
          <a:bodyPr>
            <a:normAutofit/>
          </a:bodyPr>
          <a:lstStyle/>
          <a:p>
            <a:r>
              <a:rPr lang="en-IE" dirty="0"/>
              <a:t>Standard and extended </a:t>
            </a:r>
            <a:r>
              <a:rPr lang="en-IE" dirty="0" err="1"/>
              <a:t>ACLs</a:t>
            </a:r>
            <a:r>
              <a:rPr lang="en-IE" dirty="0"/>
              <a:t> can be created using either a </a:t>
            </a:r>
            <a:r>
              <a:rPr lang="en-IE" b="1" dirty="0"/>
              <a:t>number </a:t>
            </a:r>
            <a:r>
              <a:rPr lang="en-IE" dirty="0"/>
              <a:t>or a </a:t>
            </a:r>
            <a:r>
              <a:rPr lang="en-IE" b="1" dirty="0"/>
              <a:t>name</a:t>
            </a:r>
            <a:r>
              <a:rPr lang="en-IE" dirty="0"/>
              <a:t> to identify the ACL and its list of statements.</a:t>
            </a:r>
          </a:p>
          <a:p>
            <a:endParaRPr lang="en-IE" dirty="0"/>
          </a:p>
          <a:p>
            <a:endParaRPr lang="en-IE" dirty="0"/>
          </a:p>
          <a:p>
            <a:endParaRPr lang="en-IE"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normAutofit lnSpcReduction="10000"/>
          </a:bodyPr>
          <a:lstStyle/>
          <a:p>
            <a:r>
              <a:rPr lang="en-IE" dirty="0"/>
              <a:t>Using numbered </a:t>
            </a:r>
            <a:r>
              <a:rPr lang="en-IE" dirty="0" err="1"/>
              <a:t>ACLs</a:t>
            </a:r>
            <a:r>
              <a:rPr lang="en-IE" dirty="0"/>
              <a:t> is an effective method for determining the ACL type on smaller networks with more homogeneously defined traffic.</a:t>
            </a:r>
          </a:p>
          <a:p>
            <a:r>
              <a:rPr lang="en-IE" dirty="0"/>
              <a:t>However, a number does not provide information about the purpose of the ACL.</a:t>
            </a:r>
          </a:p>
          <a:p>
            <a:r>
              <a:rPr lang="en-IE" dirty="0"/>
              <a:t>For this reason, starting with Cisco IOS Release 11.2, a name can be used to identify a Cisco ACL.</a:t>
            </a:r>
          </a:p>
          <a:p>
            <a:endParaRPr lang="en-IE"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Numbering and Naming</a:t>
            </a:r>
          </a:p>
        </p:txBody>
      </p:sp>
      <p:pic>
        <p:nvPicPr>
          <p:cNvPr id="5122" name="Picture 2"/>
          <p:cNvPicPr>
            <a:picLocks noGrp="1" noChangeAspect="1" noChangeArrowheads="1"/>
          </p:cNvPicPr>
          <p:nvPr>
            <p:ph idx="1"/>
          </p:nvPr>
        </p:nvPicPr>
        <p:blipFill>
          <a:blip r:embed="rId2" cstate="print"/>
          <a:srcRect/>
          <a:stretch>
            <a:fillRect/>
          </a:stretch>
        </p:blipFill>
        <p:spPr bwMode="auto">
          <a:xfrm>
            <a:off x="1572651" y="1600200"/>
            <a:ext cx="5998697" cy="4525963"/>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E" b="1" dirty="0"/>
              <a:t>Wildcard Masking</a:t>
            </a:r>
            <a:br>
              <a:rPr lang="en-IE" dirty="0"/>
            </a:br>
            <a:endParaRPr lang="en-IE" dirty="0"/>
          </a:p>
        </p:txBody>
      </p:sp>
      <p:sp>
        <p:nvSpPr>
          <p:cNvPr id="3" name="Content Placeholder 2"/>
          <p:cNvSpPr>
            <a:spLocks noGrp="1"/>
          </p:cNvSpPr>
          <p:nvPr>
            <p:ph idx="1"/>
          </p:nvPr>
        </p:nvSpPr>
        <p:spPr/>
        <p:txBody>
          <a:bodyPr/>
          <a:lstStyle/>
          <a:p>
            <a:r>
              <a:rPr lang="en-IE" dirty="0"/>
              <a:t>IPv4 ACLs include the use of wildcard masks.</a:t>
            </a:r>
          </a:p>
          <a:p>
            <a:r>
              <a:rPr lang="en-IE" dirty="0"/>
              <a:t>Mask 32 bits because IPv4 = 32 bits.</a:t>
            </a:r>
          </a:p>
          <a:p>
            <a:r>
              <a:rPr lang="en-IE" dirty="0"/>
              <a:t>A wildcard mask is a string of 32 binary digits used by the router to determine which bits of the address to examine for a match.</a:t>
            </a:r>
          </a:p>
          <a:p>
            <a:endParaRPr lang="en-IE" dirty="0"/>
          </a:p>
          <a:p>
            <a:endParaRPr lang="en-IE"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E84A3-4B91-84D9-CA9D-710B5C11C101}"/>
              </a:ext>
            </a:extLst>
          </p:cNvPr>
          <p:cNvSpPr>
            <a:spLocks noGrp="1"/>
          </p:cNvSpPr>
          <p:nvPr>
            <p:ph type="title"/>
          </p:nvPr>
        </p:nvSpPr>
        <p:spPr/>
        <p:txBody>
          <a:bodyPr/>
          <a:lstStyle/>
          <a:p>
            <a:r>
              <a:rPr lang="en-IE" b="1" dirty="0"/>
              <a:t>Wildcard Masking</a:t>
            </a:r>
            <a:endParaRPr lang="en-IE" dirty="0"/>
          </a:p>
        </p:txBody>
      </p:sp>
      <p:sp>
        <p:nvSpPr>
          <p:cNvPr id="3" name="Content Placeholder 2">
            <a:extLst>
              <a:ext uri="{FF2B5EF4-FFF2-40B4-BE49-F238E27FC236}">
                <a16:creationId xmlns:a16="http://schemas.microsoft.com/office/drawing/2014/main" id="{137AD323-2703-2FF6-FF82-7EE41C74A24D}"/>
              </a:ext>
            </a:extLst>
          </p:cNvPr>
          <p:cNvSpPr>
            <a:spLocks noGrp="1"/>
          </p:cNvSpPr>
          <p:nvPr>
            <p:ph idx="1"/>
          </p:nvPr>
        </p:nvSpPr>
        <p:spPr/>
        <p:txBody>
          <a:bodyPr/>
          <a:lstStyle/>
          <a:p>
            <a:r>
              <a:rPr lang="en-US" dirty="0"/>
              <a:t>Where mask is = 0 CHECK bit</a:t>
            </a:r>
          </a:p>
          <a:p>
            <a:r>
              <a:rPr lang="en-US" dirty="0"/>
              <a:t>Where mask is = 1 IGNORE bit</a:t>
            </a:r>
          </a:p>
          <a:p>
            <a:endParaRPr lang="en-IE" dirty="0"/>
          </a:p>
        </p:txBody>
      </p:sp>
    </p:spTree>
    <p:extLst>
      <p:ext uri="{BB962C8B-B14F-4D97-AF65-F5344CB8AC3E}">
        <p14:creationId xmlns:p14="http://schemas.microsoft.com/office/powerpoint/2010/main" val="7837029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a:t>
            </a:r>
            <a:endParaRPr lang="en-IE" dirty="0"/>
          </a:p>
        </p:txBody>
      </p:sp>
      <p:pic>
        <p:nvPicPr>
          <p:cNvPr id="6146" name="Picture 2"/>
          <p:cNvPicPr>
            <a:picLocks noGrp="1" noChangeAspect="1" noChangeArrowheads="1"/>
          </p:cNvPicPr>
          <p:nvPr>
            <p:ph idx="1"/>
          </p:nvPr>
        </p:nvPicPr>
        <p:blipFill>
          <a:blip r:embed="rId2" cstate="print"/>
          <a:srcRect/>
          <a:stretch>
            <a:fillRect/>
          </a:stretch>
        </p:blipFill>
        <p:spPr bwMode="auto">
          <a:xfrm>
            <a:off x="2302283" y="1600200"/>
            <a:ext cx="4539433" cy="4525963"/>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pic>
        <p:nvPicPr>
          <p:cNvPr id="7170" name="Picture 2"/>
          <p:cNvPicPr>
            <a:picLocks noGrp="1" noChangeAspect="1" noChangeArrowheads="1"/>
          </p:cNvPicPr>
          <p:nvPr>
            <p:ph idx="1"/>
          </p:nvPr>
        </p:nvPicPr>
        <p:blipFill>
          <a:blip r:embed="rId2" cstate="print"/>
          <a:srcRect/>
          <a:stretch>
            <a:fillRect/>
          </a:stretch>
        </p:blipFill>
        <p:spPr bwMode="auto">
          <a:xfrm>
            <a:off x="1276350" y="1810544"/>
            <a:ext cx="6591300" cy="4105275"/>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normAutofit/>
          </a:bodyPr>
          <a:lstStyle/>
          <a:p>
            <a:r>
              <a:rPr lang="en-IE" dirty="0"/>
              <a:t>As with subnet masks, the numbers 1 and 0 in the wildcard mask identify how to treat the corresponding IP address bits. </a:t>
            </a:r>
          </a:p>
          <a:p>
            <a:r>
              <a:rPr lang="en-IE" dirty="0"/>
              <a:t>However, in a wildcard mask, these bits are used for different purposes and follow different rules.</a:t>
            </a:r>
          </a:p>
          <a:p>
            <a:endParaRPr lang="en-IE"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lstStyle/>
          <a:p>
            <a:r>
              <a:rPr lang="en-IE" dirty="0"/>
              <a:t>Subnet masks use binary 1s and 0s to identify the network, subnet, and host portion of an IP address.</a:t>
            </a:r>
          </a:p>
          <a:p>
            <a:endParaRPr lang="en-IE" dirty="0"/>
          </a:p>
          <a:p>
            <a:r>
              <a:rPr lang="en-IE" dirty="0"/>
              <a:t>Wildcard masks use binary 1s and 0s to filter individual IP addresses or groups of IP addresses to permit or deny access to resources.</a:t>
            </a:r>
          </a:p>
          <a:p>
            <a:pPr>
              <a:buNone/>
            </a:pPr>
            <a:endParaRPr lang="en-IE"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lstStyle/>
          <a:p>
            <a:r>
              <a:rPr lang="en-IE" dirty="0"/>
              <a:t>Wildcard masks and subnet masks differ in the way they match binary 1s and 0s. Wildcard masks use the following rules to match binary 1s and 0s:</a:t>
            </a:r>
          </a:p>
          <a:p>
            <a:r>
              <a:rPr lang="en-IE" dirty="0"/>
              <a:t>Wildcard mask bit 0 - Match the corresponding bit value in the address.</a:t>
            </a:r>
          </a:p>
          <a:p>
            <a:r>
              <a:rPr lang="en-IE" dirty="0"/>
              <a:t>Wildcard mask bit 1 - Ignore the corresponding bit value in the address.</a:t>
            </a:r>
          </a:p>
          <a:p>
            <a:endParaRPr lang="en-IE"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lstStyle/>
          <a:p>
            <a:r>
              <a:rPr lang="en-IE" b="1" dirty="0"/>
              <a:t>Note</a:t>
            </a:r>
            <a:r>
              <a:rPr lang="en-IE" dirty="0"/>
              <a:t>: Wildcard masks are often referred to as an inverse mask. </a:t>
            </a:r>
          </a:p>
          <a:p>
            <a:r>
              <a:rPr lang="en-IE" dirty="0"/>
              <a:t>The reason is that, unlike a subnet mask in which binary 1 is equal to a match and binary 0 is not a match, in a wildcard mask the reverse is true.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pic>
        <p:nvPicPr>
          <p:cNvPr id="8194" name="Picture 2"/>
          <p:cNvPicPr>
            <a:picLocks noGrp="1" noChangeAspect="1" noChangeArrowheads="1"/>
          </p:cNvPicPr>
          <p:nvPr>
            <p:ph idx="1"/>
          </p:nvPr>
        </p:nvPicPr>
        <p:blipFill>
          <a:blip r:embed="rId2" cstate="print"/>
          <a:srcRect/>
          <a:stretch>
            <a:fillRect/>
          </a:stretch>
        </p:blipFill>
        <p:spPr bwMode="auto">
          <a:xfrm>
            <a:off x="2047338" y="1600200"/>
            <a:ext cx="5049324" cy="4525963"/>
          </a:xfrm>
          <a:prstGeom prst="rect">
            <a:avLst/>
          </a:prstGeom>
          <a:noFill/>
          <a:ln w="9525">
            <a:noFill/>
            <a:miter lim="800000"/>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pic>
        <p:nvPicPr>
          <p:cNvPr id="9218" name="Picture 2"/>
          <p:cNvPicPr>
            <a:picLocks noGrp="1" noChangeAspect="1" noChangeArrowheads="1"/>
          </p:cNvPicPr>
          <p:nvPr>
            <p:ph idx="1"/>
          </p:nvPr>
        </p:nvPicPr>
        <p:blipFill>
          <a:blip r:embed="rId2" cstate="print"/>
          <a:srcRect/>
          <a:stretch>
            <a:fillRect/>
          </a:stretch>
        </p:blipFill>
        <p:spPr bwMode="auto">
          <a:xfrm>
            <a:off x="1787746" y="1600200"/>
            <a:ext cx="5568507" cy="4525963"/>
          </a:xfrm>
          <a:prstGeom prst="rect">
            <a:avLst/>
          </a:prstGeom>
          <a:noFill/>
          <a:ln w="9525">
            <a:no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lstStyle/>
          <a:p>
            <a:r>
              <a:rPr lang="en-IE" dirty="0"/>
              <a:t>Calculating wildcard masks can be challenging. One shortcut method is to subtract the subnet mask from 255.255.255.255.</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pic>
        <p:nvPicPr>
          <p:cNvPr id="10242" name="Picture 2"/>
          <p:cNvPicPr>
            <a:picLocks noGrp="1" noChangeAspect="1" noChangeArrowheads="1"/>
          </p:cNvPicPr>
          <p:nvPr>
            <p:ph idx="1"/>
          </p:nvPr>
        </p:nvPicPr>
        <p:blipFill>
          <a:blip r:embed="rId2" cstate="print"/>
          <a:srcRect/>
          <a:stretch>
            <a:fillRect/>
          </a:stretch>
        </p:blipFill>
        <p:spPr bwMode="auto">
          <a:xfrm>
            <a:off x="2361974" y="1600200"/>
            <a:ext cx="4420051" cy="4525963"/>
          </a:xfrm>
          <a:prstGeom prst="rect">
            <a:avLst/>
          </a:prstGeom>
          <a:noFill/>
          <a:ln w="9525">
            <a:noFill/>
            <a:miter lim="800000"/>
            <a:headEnd/>
            <a:tailEnd/>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lstStyle/>
          <a:p>
            <a:r>
              <a:rPr lang="en-IE" dirty="0"/>
              <a:t>Assume you wanted to permit access to all users in the 192.168.3.0 network.</a:t>
            </a:r>
          </a:p>
          <a:p>
            <a:r>
              <a:rPr lang="en-IE" dirty="0"/>
              <a:t>Because the subnet mask is 255.255.255.0, you could take the 255.255.255.255 and subtract the subnet mask 255.255.255.0.</a:t>
            </a:r>
          </a:p>
          <a:p>
            <a:r>
              <a:rPr lang="en-IE" dirty="0"/>
              <a:t> The solution produces the wildcard mask 0.0.0.255.</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normAutofit lnSpcReduction="10000"/>
          </a:bodyPr>
          <a:lstStyle/>
          <a:p>
            <a:r>
              <a:rPr lang="en-IE" dirty="0"/>
              <a:t> Assume you wanted to permit network access for the 14 users in the subnet 192.168.3.32/28.</a:t>
            </a:r>
          </a:p>
          <a:p>
            <a:r>
              <a:rPr lang="en-IE" dirty="0"/>
              <a:t>The subnet mask for the IP subnet is 255.255.255.240, therefore take 255.255.255.255 and subtract the subnet mask 255.255.255.240.</a:t>
            </a:r>
          </a:p>
          <a:p>
            <a:r>
              <a:rPr lang="en-IE" dirty="0"/>
              <a:t>The solution this time produces the wildcard mask 0.0.0.15.</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dirty="0"/>
          </a:p>
        </p:txBody>
      </p:sp>
      <p:sp>
        <p:nvSpPr>
          <p:cNvPr id="3" name="Content Placeholder 2"/>
          <p:cNvSpPr>
            <a:spLocks noGrp="1"/>
          </p:cNvSpPr>
          <p:nvPr>
            <p:ph idx="1"/>
          </p:nvPr>
        </p:nvSpPr>
        <p:spPr/>
        <p:txBody>
          <a:bodyPr/>
          <a:lstStyle/>
          <a:p>
            <a:r>
              <a:rPr lang="en-IE" dirty="0"/>
              <a:t> Assume you wanted to match only networks 192.168.10.0 and 192.168.11.0.</a:t>
            </a:r>
          </a:p>
          <a:p>
            <a:r>
              <a:rPr lang="en-IE" dirty="0"/>
              <a:t> Again, you take the 255.255.255.255 and subtract the regular subnet mask which in this case would be 255.255.254.0.</a:t>
            </a:r>
          </a:p>
          <a:p>
            <a:r>
              <a:rPr lang="en-IE" dirty="0"/>
              <a:t> The result is 0.0.1.255.</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Standard Example</a:t>
            </a:r>
            <a:endParaRPr lang="en-IE" dirty="0"/>
          </a:p>
        </p:txBody>
      </p:sp>
      <p:sp>
        <p:nvSpPr>
          <p:cNvPr id="3" name="Content Placeholder 2"/>
          <p:cNvSpPr>
            <a:spLocks noGrp="1"/>
          </p:cNvSpPr>
          <p:nvPr>
            <p:ph idx="1"/>
          </p:nvPr>
        </p:nvSpPr>
        <p:spPr>
          <a:xfrm>
            <a:off x="179512" y="1600200"/>
            <a:ext cx="8964488" cy="4525963"/>
          </a:xfrm>
        </p:spPr>
        <p:txBody>
          <a:bodyPr/>
          <a:lstStyle/>
          <a:p>
            <a:pPr>
              <a:buNone/>
            </a:pPr>
            <a:endParaRPr lang="en-IE" b="1" dirty="0"/>
          </a:p>
          <a:p>
            <a:endParaRPr lang="en-IE" b="1" dirty="0"/>
          </a:p>
          <a:p>
            <a:r>
              <a:rPr lang="en-IE" sz="2800" dirty="0"/>
              <a:t>R1(</a:t>
            </a:r>
            <a:r>
              <a:rPr lang="en-IE" sz="2800" dirty="0" err="1"/>
              <a:t>config</a:t>
            </a:r>
            <a:r>
              <a:rPr lang="en-IE" sz="2800" dirty="0"/>
              <a:t>)# </a:t>
            </a:r>
            <a:r>
              <a:rPr lang="en-IE" sz="2800" b="1" dirty="0"/>
              <a:t>access-list 10 permit 192.168.16.0 0.0.15.255</a:t>
            </a:r>
            <a:endParaRPr lang="en-IE" sz="2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Keywords =ANY and HOST</a:t>
            </a:r>
            <a:endParaRPr lang="en-IE" dirty="0"/>
          </a:p>
        </p:txBody>
      </p:sp>
      <p:pic>
        <p:nvPicPr>
          <p:cNvPr id="11266" name="Picture 2"/>
          <p:cNvPicPr>
            <a:picLocks noGrp="1" noChangeAspect="1" noChangeArrowheads="1"/>
          </p:cNvPicPr>
          <p:nvPr>
            <p:ph idx="1"/>
          </p:nvPr>
        </p:nvPicPr>
        <p:blipFill>
          <a:blip r:embed="rId2" cstate="print"/>
          <a:srcRect/>
          <a:stretch>
            <a:fillRect/>
          </a:stretch>
        </p:blipFill>
        <p:spPr bwMode="auto">
          <a:xfrm>
            <a:off x="1115616" y="1600200"/>
            <a:ext cx="6624736" cy="4525963"/>
          </a:xfrm>
          <a:prstGeom prst="rect">
            <a:avLst/>
          </a:prstGeom>
          <a:noFill/>
          <a:ln w="9525">
            <a:noFill/>
            <a:miter lim="800000"/>
            <a:headEnd/>
            <a:tailEnd/>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E" b="1" dirty="0"/>
              <a:t>Wildcard Bit Mask Keywords</a:t>
            </a:r>
            <a:br>
              <a:rPr lang="en-IE" dirty="0"/>
            </a:br>
            <a:endParaRPr lang="en-IE" dirty="0"/>
          </a:p>
        </p:txBody>
      </p:sp>
      <p:sp>
        <p:nvSpPr>
          <p:cNvPr id="3" name="Content Placeholder 2"/>
          <p:cNvSpPr>
            <a:spLocks noGrp="1"/>
          </p:cNvSpPr>
          <p:nvPr>
            <p:ph idx="1"/>
          </p:nvPr>
        </p:nvSpPr>
        <p:spPr/>
        <p:txBody>
          <a:bodyPr>
            <a:normAutofit fontScale="62500" lnSpcReduction="20000"/>
          </a:bodyPr>
          <a:lstStyle/>
          <a:p>
            <a:r>
              <a:rPr lang="en-IE" sz="4600" dirty="0"/>
              <a:t>Working with decimal representations of binary wildcard mask bits can be tedious.</a:t>
            </a:r>
          </a:p>
          <a:p>
            <a:r>
              <a:rPr lang="en-IE" sz="4600" dirty="0"/>
              <a:t>To simplify this task, the keywords</a:t>
            </a:r>
            <a:r>
              <a:rPr lang="en-IE" sz="4600" b="1" dirty="0"/>
              <a:t> host </a:t>
            </a:r>
            <a:r>
              <a:rPr lang="en-IE" sz="4600" dirty="0"/>
              <a:t>and </a:t>
            </a:r>
            <a:r>
              <a:rPr lang="en-IE" sz="4600" b="1" dirty="0"/>
              <a:t>any</a:t>
            </a:r>
            <a:r>
              <a:rPr lang="en-IE" sz="4600" dirty="0"/>
              <a:t> help identify the most common uses of wildcard masking.</a:t>
            </a:r>
          </a:p>
          <a:p>
            <a:r>
              <a:rPr lang="en-IE" sz="4600" dirty="0"/>
              <a:t>These keywords eliminate entering wildcard masks when identifying a specific host or an entire network. </a:t>
            </a:r>
          </a:p>
          <a:p>
            <a:r>
              <a:rPr lang="en-IE" sz="4600" dirty="0"/>
              <a:t>These keywords also make it easier to read an ACL by providing visual clues as to the source or destination of the criteria.</a:t>
            </a:r>
          </a:p>
          <a:p>
            <a:endParaRPr lang="en-IE"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lstStyle/>
          <a:p>
            <a:r>
              <a:rPr lang="en-IE" dirty="0"/>
              <a:t>The</a:t>
            </a:r>
            <a:r>
              <a:rPr lang="en-IE" b="1" dirty="0"/>
              <a:t> host</a:t>
            </a:r>
            <a:r>
              <a:rPr lang="en-IE" dirty="0"/>
              <a:t> keyword substitutes for the </a:t>
            </a:r>
            <a:r>
              <a:rPr lang="en-IE" b="1" dirty="0"/>
              <a:t>0.0.0.0</a:t>
            </a:r>
            <a:r>
              <a:rPr lang="en-IE" dirty="0"/>
              <a:t> mask. </a:t>
            </a:r>
          </a:p>
          <a:p>
            <a:r>
              <a:rPr lang="en-IE" dirty="0"/>
              <a:t>This mask states that all IPv4 address bits must match or only one host is matched.</a:t>
            </a:r>
          </a:p>
          <a:p>
            <a:r>
              <a:rPr lang="en-IE" dirty="0"/>
              <a:t>The </a:t>
            </a:r>
            <a:r>
              <a:rPr lang="en-IE" b="1" dirty="0"/>
              <a:t>any</a:t>
            </a:r>
            <a:r>
              <a:rPr lang="en-IE" dirty="0"/>
              <a:t> option substitutes for the IP address and 255.255.255.255 mask. </a:t>
            </a:r>
          </a:p>
          <a:p>
            <a:r>
              <a:rPr lang="en-IE" dirty="0"/>
              <a:t>This mask says to ignore the entire IPv4 address or to accept any addresses.</a:t>
            </a:r>
          </a:p>
          <a:p>
            <a:endParaRPr lang="en-IE"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E" b="1" dirty="0"/>
              <a:t>The</a:t>
            </a:r>
            <a:r>
              <a:rPr lang="en-IE" dirty="0"/>
              <a:t> </a:t>
            </a:r>
            <a:r>
              <a:rPr lang="en-IE" b="1" dirty="0"/>
              <a:t>any and</a:t>
            </a:r>
            <a:r>
              <a:rPr lang="en-IE" dirty="0"/>
              <a:t> </a:t>
            </a:r>
            <a:r>
              <a:rPr lang="en-IE" b="1" dirty="0"/>
              <a:t>host Keywords</a:t>
            </a:r>
            <a:br>
              <a:rPr lang="en-IE" dirty="0"/>
            </a:br>
            <a:endParaRPr lang="en-IE" dirty="0"/>
          </a:p>
        </p:txBody>
      </p:sp>
      <p:sp>
        <p:nvSpPr>
          <p:cNvPr id="3" name="Content Placeholder 2"/>
          <p:cNvSpPr>
            <a:spLocks noGrp="1"/>
          </p:cNvSpPr>
          <p:nvPr>
            <p:ph idx="1"/>
          </p:nvPr>
        </p:nvSpPr>
        <p:spPr/>
        <p:txBody>
          <a:bodyPr/>
          <a:lstStyle/>
          <a:p>
            <a:pPr>
              <a:buNone/>
            </a:pPr>
            <a:endParaRPr lang="en-IE" dirty="0"/>
          </a:p>
          <a:p>
            <a:r>
              <a:rPr lang="en-IE" b="1" dirty="0"/>
              <a:t>any </a:t>
            </a:r>
            <a:r>
              <a:rPr lang="en-IE" dirty="0"/>
              <a:t>keyword to substitute for the IPv4 address 0.0.0.0 with a wildcard mask of 255.255.255.255.</a:t>
            </a:r>
          </a:p>
          <a:p>
            <a:endParaRPr lang="en-IE" dirty="0"/>
          </a:p>
          <a:p>
            <a:endParaRPr lang="en-IE"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Example of </a:t>
            </a:r>
            <a:r>
              <a:rPr lang="en-IE" u="sng" dirty="0"/>
              <a:t>any </a:t>
            </a:r>
            <a:r>
              <a:rPr lang="en-IE" dirty="0"/>
              <a:t>keyword</a:t>
            </a:r>
          </a:p>
        </p:txBody>
      </p:sp>
      <p:pic>
        <p:nvPicPr>
          <p:cNvPr id="3074" name="Picture 2"/>
          <p:cNvPicPr>
            <a:picLocks noGrp="1" noChangeAspect="1" noChangeArrowheads="1"/>
          </p:cNvPicPr>
          <p:nvPr>
            <p:ph idx="1"/>
          </p:nvPr>
        </p:nvPicPr>
        <p:blipFill>
          <a:blip r:embed="rId2" cstate="print"/>
          <a:srcRect/>
          <a:stretch>
            <a:fillRect/>
          </a:stretch>
        </p:blipFill>
        <p:spPr bwMode="auto">
          <a:xfrm>
            <a:off x="1147762" y="3105944"/>
            <a:ext cx="6848475" cy="1514475"/>
          </a:xfrm>
          <a:prstGeom prst="rect">
            <a:avLst/>
          </a:prstGeom>
          <a:noFill/>
          <a:ln w="9525">
            <a:noFill/>
            <a:miter lim="800000"/>
            <a:headEnd/>
            <a:tailEnd/>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lstStyle/>
          <a:p>
            <a:r>
              <a:rPr lang="en-IE" dirty="0"/>
              <a:t>The</a:t>
            </a:r>
            <a:r>
              <a:rPr lang="en-IE" b="1" dirty="0"/>
              <a:t> host </a:t>
            </a:r>
            <a:r>
              <a:rPr lang="en-IE" dirty="0"/>
              <a:t>keyword to substitute for the wildcard mask when identifying a single host.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Example of </a:t>
            </a:r>
            <a:r>
              <a:rPr lang="en-IE" u="sng" dirty="0"/>
              <a:t>host </a:t>
            </a:r>
            <a:r>
              <a:rPr lang="en-IE" dirty="0"/>
              <a:t>keyword</a:t>
            </a:r>
          </a:p>
        </p:txBody>
      </p:sp>
      <p:pic>
        <p:nvPicPr>
          <p:cNvPr id="4098" name="Picture 2"/>
          <p:cNvPicPr>
            <a:picLocks noGrp="1" noChangeAspect="1" noChangeArrowheads="1"/>
          </p:cNvPicPr>
          <p:nvPr>
            <p:ph idx="1"/>
          </p:nvPr>
        </p:nvPicPr>
        <p:blipFill>
          <a:blip r:embed="rId2" cstate="print"/>
          <a:srcRect/>
          <a:stretch>
            <a:fillRect/>
          </a:stretch>
        </p:blipFill>
        <p:spPr bwMode="auto">
          <a:xfrm>
            <a:off x="1238250" y="3358356"/>
            <a:ext cx="6667500" cy="1009650"/>
          </a:xfrm>
          <a:prstGeom prst="rect">
            <a:avLst/>
          </a:prstGeom>
          <a:noFill/>
          <a:ln w="9525">
            <a:noFill/>
            <a:miter lim="800000"/>
            <a:headEnd/>
            <a:tailEnd/>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normAutofit/>
          </a:bodyPr>
          <a:lstStyle/>
          <a:p>
            <a:r>
              <a:rPr lang="en-IE" dirty="0"/>
              <a:t>Writing </a:t>
            </a:r>
            <a:r>
              <a:rPr lang="en-IE" dirty="0" err="1"/>
              <a:t>ACLs</a:t>
            </a:r>
            <a:r>
              <a:rPr lang="en-IE" dirty="0"/>
              <a:t> can be a complex task.</a:t>
            </a:r>
          </a:p>
          <a:p>
            <a:r>
              <a:rPr lang="en-IE" dirty="0"/>
              <a:t>For every interface there may be multiple policies needed to manage the type of traffic allowed to enter or exit that interface.</a:t>
            </a:r>
          </a:p>
          <a:p>
            <a:r>
              <a:rPr lang="en-IE" dirty="0"/>
              <a:t>The router in the next figure has two interfaces configured for IPv4 and IPv6.</a:t>
            </a:r>
          </a:p>
          <a:p>
            <a:endParaRPr lang="en-IE"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3 P’s</a:t>
            </a:r>
          </a:p>
        </p:txBody>
      </p:sp>
      <p:pic>
        <p:nvPicPr>
          <p:cNvPr id="5122" name="Picture 2"/>
          <p:cNvPicPr>
            <a:picLocks noGrp="1" noChangeAspect="1" noChangeArrowheads="1"/>
          </p:cNvPicPr>
          <p:nvPr>
            <p:ph idx="1"/>
          </p:nvPr>
        </p:nvPicPr>
        <p:blipFill>
          <a:blip r:embed="rId2" cstate="print"/>
          <a:srcRect/>
          <a:stretch>
            <a:fillRect/>
          </a:stretch>
        </p:blipFill>
        <p:spPr bwMode="auto">
          <a:xfrm>
            <a:off x="1334741" y="1600200"/>
            <a:ext cx="6474518" cy="4525963"/>
          </a:xfrm>
          <a:prstGeom prst="rect">
            <a:avLst/>
          </a:prstGeom>
          <a:noFill/>
          <a:ln w="9525">
            <a:noFill/>
            <a:miter lim="800000"/>
            <a:headEnd/>
            <a:tailEnd/>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lstStyle/>
          <a:p>
            <a:r>
              <a:rPr lang="en-IE" dirty="0"/>
              <a:t>If we needed ACLs for both protocols, on both interfaces and in both directions, this would require eight separate ACLs.</a:t>
            </a:r>
          </a:p>
          <a:p>
            <a:r>
              <a:rPr lang="en-IE" dirty="0"/>
              <a:t>Each interface would have four ACLs; </a:t>
            </a:r>
          </a:p>
          <a:p>
            <a:r>
              <a:rPr lang="en-IE" dirty="0"/>
              <a:t>two ACLs for IPv4 and two ACLs for IPv6.</a:t>
            </a:r>
          </a:p>
          <a:p>
            <a:r>
              <a:rPr lang="en-IE" dirty="0"/>
              <a:t>For each protocol, one ACL is for </a:t>
            </a:r>
            <a:r>
              <a:rPr lang="en-IE" u="sng" dirty="0"/>
              <a:t>inbound</a:t>
            </a:r>
            <a:r>
              <a:rPr lang="en-IE" dirty="0"/>
              <a:t> traffic and one for </a:t>
            </a:r>
            <a:r>
              <a:rPr lang="en-IE" u="sng" dirty="0"/>
              <a:t>outbound </a:t>
            </a:r>
            <a:r>
              <a:rPr lang="en-IE" dirty="0"/>
              <a:t>traffic.</a:t>
            </a:r>
          </a:p>
          <a:p>
            <a:endParaRPr lang="en-IE"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E" b="1" dirty="0"/>
              <a:t>The Three Ps</a:t>
            </a:r>
            <a:br>
              <a:rPr lang="en-IE" dirty="0"/>
            </a:br>
            <a:endParaRPr lang="en-IE" dirty="0"/>
          </a:p>
        </p:txBody>
      </p:sp>
      <p:sp>
        <p:nvSpPr>
          <p:cNvPr id="3" name="Content Placeholder 2"/>
          <p:cNvSpPr>
            <a:spLocks noGrp="1"/>
          </p:cNvSpPr>
          <p:nvPr>
            <p:ph idx="1"/>
          </p:nvPr>
        </p:nvSpPr>
        <p:spPr/>
        <p:txBody>
          <a:bodyPr>
            <a:normAutofit fontScale="77500" lnSpcReduction="20000"/>
          </a:bodyPr>
          <a:lstStyle/>
          <a:p>
            <a:r>
              <a:rPr lang="en-IE" dirty="0"/>
              <a:t>A general rule for applying </a:t>
            </a:r>
            <a:r>
              <a:rPr lang="en-IE" dirty="0" err="1"/>
              <a:t>ACLs</a:t>
            </a:r>
            <a:r>
              <a:rPr lang="en-IE" dirty="0"/>
              <a:t> on a router can be recalled by remembering the three Ps. You can configure one ACL per protocol, per direction, per interface:</a:t>
            </a:r>
          </a:p>
          <a:p>
            <a:r>
              <a:rPr lang="en-IE" b="1" dirty="0"/>
              <a:t>One ACL per protocol </a:t>
            </a:r>
            <a:r>
              <a:rPr lang="en-IE" dirty="0"/>
              <a:t>- To control traffic flow on an interface, an ACL must be defined for each protocol enabled on the interface.</a:t>
            </a:r>
          </a:p>
          <a:p>
            <a:r>
              <a:rPr lang="en-IE" b="1" dirty="0"/>
              <a:t>One ACL per direction </a:t>
            </a:r>
            <a:r>
              <a:rPr lang="en-IE" dirty="0"/>
              <a:t>- ACLs control traffic in one direction at a time on an interface. </a:t>
            </a:r>
          </a:p>
          <a:p>
            <a:r>
              <a:rPr lang="en-IE" dirty="0"/>
              <a:t>Two separate ACLs must be created to control inbound and outbound traffic.</a:t>
            </a:r>
          </a:p>
          <a:p>
            <a:r>
              <a:rPr lang="en-IE" b="1" dirty="0"/>
              <a:t>One ACL per interface </a:t>
            </a:r>
            <a:r>
              <a:rPr lang="en-IE" dirty="0"/>
              <a:t>- </a:t>
            </a:r>
            <a:r>
              <a:rPr lang="en-IE" dirty="0" err="1"/>
              <a:t>ACLs</a:t>
            </a:r>
            <a:r>
              <a:rPr lang="en-IE" dirty="0"/>
              <a:t> control traffic for an interface, for example, </a:t>
            </a:r>
            <a:r>
              <a:rPr lang="en-IE" dirty="0" err="1"/>
              <a:t>GigabitEthernet</a:t>
            </a:r>
            <a:r>
              <a:rPr lang="en-IE" dirty="0"/>
              <a:t> 0/0.</a:t>
            </a:r>
          </a:p>
          <a:p>
            <a:endParaRPr lang="en-IE"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3Ps</a:t>
            </a:r>
            <a:endParaRPr lang="en-IE" dirty="0"/>
          </a:p>
        </p:txBody>
      </p:sp>
      <p:pic>
        <p:nvPicPr>
          <p:cNvPr id="5122" name="Picture 2"/>
          <p:cNvPicPr>
            <a:picLocks noGrp="1" noChangeAspect="1" noChangeArrowheads="1"/>
          </p:cNvPicPr>
          <p:nvPr>
            <p:ph idx="1"/>
          </p:nvPr>
        </p:nvPicPr>
        <p:blipFill>
          <a:blip r:embed="rId2" cstate="print"/>
          <a:srcRect/>
          <a:stretch>
            <a:fillRect/>
          </a:stretch>
        </p:blipFill>
        <p:spPr bwMode="auto">
          <a:xfrm>
            <a:off x="1334741" y="1600200"/>
            <a:ext cx="6474518" cy="4525963"/>
          </a:xfrm>
          <a:prstGeom prst="rect">
            <a:avLst/>
          </a:prstGeom>
          <a:noFill/>
          <a:ln w="9525">
            <a:noFill/>
            <a:miter lim="800000"/>
            <a:headEnd/>
            <a:tailEnd/>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normAutofit fontScale="92500" lnSpcReduction="20000"/>
          </a:bodyPr>
          <a:lstStyle/>
          <a:p>
            <a:r>
              <a:rPr lang="en-IE" b="1" dirty="0"/>
              <a:t>Note</a:t>
            </a:r>
            <a:r>
              <a:rPr lang="en-IE" dirty="0"/>
              <a:t>: </a:t>
            </a:r>
            <a:r>
              <a:rPr lang="en-IE" dirty="0" err="1"/>
              <a:t>ACLs</a:t>
            </a:r>
            <a:r>
              <a:rPr lang="en-IE" dirty="0"/>
              <a:t> do not have to be configured in both directions. The number of </a:t>
            </a:r>
            <a:r>
              <a:rPr lang="en-IE" dirty="0" err="1"/>
              <a:t>ACLs</a:t>
            </a:r>
            <a:r>
              <a:rPr lang="en-IE" dirty="0"/>
              <a:t> and their direction applied to the interface will depend on the requirements being implemented.</a:t>
            </a:r>
          </a:p>
          <a:p>
            <a:r>
              <a:rPr lang="en-IE" dirty="0"/>
              <a:t>Here are some guidelines for using </a:t>
            </a:r>
            <a:r>
              <a:rPr lang="en-IE" dirty="0" err="1"/>
              <a:t>ACLs</a:t>
            </a:r>
            <a:r>
              <a:rPr lang="en-IE" dirty="0"/>
              <a:t>:</a:t>
            </a:r>
          </a:p>
          <a:p>
            <a:r>
              <a:rPr lang="en-IE" dirty="0"/>
              <a:t>Use </a:t>
            </a:r>
            <a:r>
              <a:rPr lang="en-IE" dirty="0" err="1"/>
              <a:t>ACLs</a:t>
            </a:r>
            <a:r>
              <a:rPr lang="en-IE" dirty="0"/>
              <a:t> in firewall routers positioned between your internal network and an external network such as the Internet.</a:t>
            </a:r>
          </a:p>
          <a:p>
            <a:r>
              <a:rPr lang="en-IE" dirty="0"/>
              <a:t>Use </a:t>
            </a:r>
            <a:r>
              <a:rPr lang="en-IE" dirty="0" err="1"/>
              <a:t>ACLs</a:t>
            </a:r>
            <a:r>
              <a:rPr lang="en-IE" dirty="0"/>
              <a:t> on a router positioned between two parts of your network to control traffic entering or exiting a specific part of your internal network.</a:t>
            </a:r>
          </a:p>
          <a:p>
            <a:endParaRPr lang="en-IE"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normAutofit lnSpcReduction="10000"/>
          </a:bodyPr>
          <a:lstStyle/>
          <a:p>
            <a:r>
              <a:rPr lang="en-IE" dirty="0"/>
              <a:t>Configure </a:t>
            </a:r>
            <a:r>
              <a:rPr lang="en-IE" dirty="0" err="1"/>
              <a:t>ACLs</a:t>
            </a:r>
            <a:r>
              <a:rPr lang="en-IE" dirty="0"/>
              <a:t> on border routers, that is, routers situated at the edges of your networks. </a:t>
            </a:r>
          </a:p>
          <a:p>
            <a:r>
              <a:rPr lang="en-IE" dirty="0"/>
              <a:t>This provides a very basic buffer from the outside network, or between a less controlled area of your own network and a more sensitive area of your network.</a:t>
            </a:r>
          </a:p>
          <a:p>
            <a:r>
              <a:rPr lang="en-IE" dirty="0"/>
              <a:t>Configure </a:t>
            </a:r>
            <a:r>
              <a:rPr lang="en-IE" dirty="0" err="1"/>
              <a:t>ACLs</a:t>
            </a:r>
            <a:r>
              <a:rPr lang="en-IE" dirty="0"/>
              <a:t> for each network protocol configured on the border router interfaces.</a:t>
            </a:r>
          </a:p>
          <a:p>
            <a:pPr>
              <a:buNone/>
            </a:pPr>
            <a:endParaRPr lang="en-IE"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Placement of ACL!!!</a:t>
            </a:r>
          </a:p>
        </p:txBody>
      </p:sp>
      <p:sp>
        <p:nvSpPr>
          <p:cNvPr id="3" name="Content Placeholder 2"/>
          <p:cNvSpPr>
            <a:spLocks noGrp="1"/>
          </p:cNvSpPr>
          <p:nvPr>
            <p:ph idx="1"/>
          </p:nvPr>
        </p:nvSpPr>
        <p:spPr/>
        <p:txBody>
          <a:bodyPr>
            <a:normAutofit/>
          </a:bodyPr>
          <a:lstStyle/>
          <a:p>
            <a:r>
              <a:rPr lang="en-IE" dirty="0"/>
              <a:t>The proper placement of an ACL can make the network operate more efficiently.</a:t>
            </a:r>
          </a:p>
          <a:p>
            <a:r>
              <a:rPr lang="en-IE" dirty="0"/>
              <a:t>An ACL can be placed to reduce unnecessary traffic.</a:t>
            </a:r>
          </a:p>
          <a:p>
            <a:r>
              <a:rPr lang="en-IE" dirty="0"/>
              <a:t>For example, traffic that will be denied at a remote destination should not be forwarded using network resources along the route to that destination.</a:t>
            </a:r>
          </a:p>
          <a:p>
            <a:endParaRPr lang="en-IE"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Placement!</a:t>
            </a:r>
            <a:endParaRPr lang="en-IE" dirty="0"/>
          </a:p>
        </p:txBody>
      </p:sp>
      <p:sp>
        <p:nvSpPr>
          <p:cNvPr id="3" name="Content Placeholder 2"/>
          <p:cNvSpPr>
            <a:spLocks noGrp="1"/>
          </p:cNvSpPr>
          <p:nvPr>
            <p:ph idx="1"/>
          </p:nvPr>
        </p:nvSpPr>
        <p:spPr/>
        <p:txBody>
          <a:bodyPr>
            <a:normAutofit/>
          </a:bodyPr>
          <a:lstStyle/>
          <a:p>
            <a:r>
              <a:rPr lang="en-IE" dirty="0"/>
              <a:t>Every ACL should be placed where it has the greatest impact on efficiency. </a:t>
            </a:r>
          </a:p>
          <a:p>
            <a:r>
              <a:rPr lang="en-IE" b="1" dirty="0"/>
              <a:t>Extended ACLs </a:t>
            </a:r>
            <a:r>
              <a:rPr lang="en-IE" dirty="0"/>
              <a:t>- Locate extended ACLs as close as possible </a:t>
            </a:r>
            <a:r>
              <a:rPr lang="en-IE" b="1" u="sng" dirty="0"/>
              <a:t>to the source </a:t>
            </a:r>
            <a:r>
              <a:rPr lang="en-IE" dirty="0"/>
              <a:t>of the traffic to be filtered. </a:t>
            </a:r>
          </a:p>
          <a:p>
            <a:r>
              <a:rPr lang="en-IE" dirty="0"/>
              <a:t>This way, undesirable traffic is denied close to the source network without crossing the network infrastructure.</a:t>
            </a:r>
          </a:p>
          <a:p>
            <a:endParaRPr lang="en-IE"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lstStyle/>
          <a:p>
            <a:r>
              <a:rPr lang="en-IE" b="1" dirty="0"/>
              <a:t>Standard </a:t>
            </a:r>
            <a:r>
              <a:rPr lang="en-IE" b="1" dirty="0" err="1"/>
              <a:t>ACLs</a:t>
            </a:r>
            <a:r>
              <a:rPr lang="en-IE" b="1" dirty="0"/>
              <a:t> </a:t>
            </a:r>
            <a:r>
              <a:rPr lang="en-IE" dirty="0"/>
              <a:t>- Because standard </a:t>
            </a:r>
            <a:r>
              <a:rPr lang="en-IE" dirty="0" err="1"/>
              <a:t>ACLs</a:t>
            </a:r>
            <a:r>
              <a:rPr lang="en-IE" dirty="0"/>
              <a:t> do not specify destination addresses, place them as </a:t>
            </a:r>
            <a:r>
              <a:rPr lang="en-IE" b="1" u="sng" dirty="0"/>
              <a:t>close to the destination as possible</a:t>
            </a:r>
            <a:r>
              <a:rPr lang="en-IE" dirty="0"/>
              <a:t>.</a:t>
            </a:r>
          </a:p>
          <a:p>
            <a:r>
              <a:rPr lang="en-IE" dirty="0"/>
              <a:t>Placing a standard ACL at the source of the traffic will effectively prevent that traffic from reaching any other networks through the interface where the ACL is applied.</a:t>
            </a:r>
          </a:p>
          <a:p>
            <a:pPr>
              <a:buNone/>
            </a:pPr>
            <a:endParaRPr lang="en-IE"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pic>
        <p:nvPicPr>
          <p:cNvPr id="6146" name="Picture 2"/>
          <p:cNvPicPr>
            <a:picLocks noGrp="1" noChangeAspect="1" noChangeArrowheads="1"/>
          </p:cNvPicPr>
          <p:nvPr>
            <p:ph idx="1"/>
          </p:nvPr>
        </p:nvPicPr>
        <p:blipFill>
          <a:blip r:embed="rId2" cstate="print"/>
          <a:srcRect/>
          <a:stretch>
            <a:fillRect/>
          </a:stretch>
        </p:blipFill>
        <p:spPr bwMode="auto">
          <a:xfrm>
            <a:off x="1558620" y="1600200"/>
            <a:ext cx="6026760" cy="4525963"/>
          </a:xfrm>
          <a:prstGeom prst="rect">
            <a:avLst/>
          </a:prstGeom>
          <a:noFill/>
          <a:ln w="9525">
            <a:noFill/>
            <a:miter lim="800000"/>
            <a:headEnd/>
            <a:tailEnd/>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normAutofit/>
          </a:bodyPr>
          <a:lstStyle/>
          <a:p>
            <a:r>
              <a:rPr lang="en-IE" dirty="0"/>
              <a:t>A standard ACL can only filter traffic based on a source address.</a:t>
            </a:r>
          </a:p>
          <a:p>
            <a:r>
              <a:rPr lang="en-IE" dirty="0"/>
              <a:t>The basic rule for placement of a standard ACL is to place the ACL as close as possible to the destination network. </a:t>
            </a:r>
          </a:p>
          <a:p>
            <a:r>
              <a:rPr lang="en-IE" dirty="0"/>
              <a:t>This allows the traffic to reach all other networks except the network where the packets will be filtered.</a:t>
            </a:r>
          </a:p>
          <a:p>
            <a:endParaRPr lang="en-IE"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Example</a:t>
            </a:r>
          </a:p>
        </p:txBody>
      </p:sp>
      <p:sp>
        <p:nvSpPr>
          <p:cNvPr id="3" name="Content Placeholder 2"/>
          <p:cNvSpPr>
            <a:spLocks noGrp="1"/>
          </p:cNvSpPr>
          <p:nvPr>
            <p:ph idx="1"/>
          </p:nvPr>
        </p:nvSpPr>
        <p:spPr/>
        <p:txBody>
          <a:bodyPr/>
          <a:lstStyle/>
          <a:p>
            <a:r>
              <a:rPr lang="en-IE" dirty="0"/>
              <a:t>An administrator wants to prevent traffic originating in the 192.168.10.0/24 network from reaching the 192.168.30.0/24 network.</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Example </a:t>
            </a:r>
          </a:p>
        </p:txBody>
      </p:sp>
      <p:pic>
        <p:nvPicPr>
          <p:cNvPr id="7170" name="Picture 2"/>
          <p:cNvPicPr>
            <a:picLocks noGrp="1" noChangeAspect="1" noChangeArrowheads="1"/>
          </p:cNvPicPr>
          <p:nvPr>
            <p:ph idx="1"/>
          </p:nvPr>
        </p:nvPicPr>
        <p:blipFill>
          <a:blip r:embed="rId2" cstate="print"/>
          <a:srcRect/>
          <a:stretch>
            <a:fillRect/>
          </a:stretch>
        </p:blipFill>
        <p:spPr bwMode="auto">
          <a:xfrm>
            <a:off x="1778336" y="1600200"/>
            <a:ext cx="5587328" cy="4525963"/>
          </a:xfrm>
          <a:prstGeom prst="rect">
            <a:avLst/>
          </a:prstGeom>
          <a:noFill/>
          <a:ln w="9525">
            <a:noFill/>
            <a:miter lim="800000"/>
            <a:headEnd/>
            <a:tailEnd/>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Previous slide</a:t>
            </a:r>
            <a:endParaRPr lang="en-IE" dirty="0"/>
          </a:p>
        </p:txBody>
      </p:sp>
      <p:sp>
        <p:nvSpPr>
          <p:cNvPr id="3" name="Content Placeholder 2"/>
          <p:cNvSpPr>
            <a:spLocks noGrp="1"/>
          </p:cNvSpPr>
          <p:nvPr>
            <p:ph idx="1"/>
          </p:nvPr>
        </p:nvSpPr>
        <p:spPr/>
        <p:txBody>
          <a:bodyPr/>
          <a:lstStyle/>
          <a:p>
            <a:r>
              <a:rPr lang="en-IE" dirty="0"/>
              <a:t>If the standard ACL is placed on the outbound interface of R1, this would prevent traffic on the 192.168.10.0/24 network from reaching any networks reachable through the Serial 0/0/0 interface of R1.</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normAutofit/>
          </a:bodyPr>
          <a:lstStyle/>
          <a:p>
            <a:endParaRPr lang="en-IE" dirty="0"/>
          </a:p>
          <a:p>
            <a:r>
              <a:rPr lang="en-IE" dirty="0"/>
              <a:t>Following the basic placement guidelines of placing the standard ACL close to the destination, the figure shows two possible interfaces on R3 to apply the standard ACL:</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Where to Apply??</a:t>
            </a:r>
          </a:p>
        </p:txBody>
      </p:sp>
      <p:sp>
        <p:nvSpPr>
          <p:cNvPr id="3" name="Content Placeholder 2"/>
          <p:cNvSpPr>
            <a:spLocks noGrp="1"/>
          </p:cNvSpPr>
          <p:nvPr>
            <p:ph idx="1"/>
          </p:nvPr>
        </p:nvSpPr>
        <p:spPr/>
        <p:txBody>
          <a:bodyPr>
            <a:normAutofit lnSpcReduction="10000"/>
          </a:bodyPr>
          <a:lstStyle/>
          <a:p>
            <a:r>
              <a:rPr lang="en-IE" b="1" dirty="0"/>
              <a:t>R3 S0/0/1 interface </a:t>
            </a:r>
            <a:r>
              <a:rPr lang="en-IE" dirty="0"/>
              <a:t>- Applying a standard ACL to prevent traffic from 192.168.10.0/24 from entering the S0/0/1 interface will prevent this traffic from reaching 192.168.30.0/24 and all other networks reachable by R3.</a:t>
            </a:r>
          </a:p>
          <a:p>
            <a:r>
              <a:rPr lang="en-IE" dirty="0"/>
              <a:t>This includes the 192.168.31.0/24 network. Because the intent of the ACL is to filter traffic destined only for 192.168.30.0/24, a standard ACL should not be applied to this interface.</a:t>
            </a:r>
          </a:p>
          <a:p>
            <a:endParaRPr lang="en-IE"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Where to Apply??</a:t>
            </a:r>
          </a:p>
        </p:txBody>
      </p:sp>
      <p:sp>
        <p:nvSpPr>
          <p:cNvPr id="3" name="Content Placeholder 2"/>
          <p:cNvSpPr>
            <a:spLocks noGrp="1"/>
          </p:cNvSpPr>
          <p:nvPr>
            <p:ph idx="1"/>
          </p:nvPr>
        </p:nvSpPr>
        <p:spPr/>
        <p:txBody>
          <a:bodyPr/>
          <a:lstStyle/>
          <a:p>
            <a:r>
              <a:rPr lang="en-IE" b="1" dirty="0"/>
              <a:t>R3 G0/0 interface </a:t>
            </a:r>
            <a:r>
              <a:rPr lang="en-IE" dirty="0"/>
              <a:t>- Applying the standard ACL to traffic exiting the G0/0 interface will filter packets from 192.168.10.0/24 to 192.168.30.0/24. </a:t>
            </a:r>
          </a:p>
          <a:p>
            <a:r>
              <a:rPr lang="en-IE" dirty="0"/>
              <a:t>This will not affect other networks reachable by R3. </a:t>
            </a:r>
          </a:p>
          <a:p>
            <a:r>
              <a:rPr lang="en-IE" dirty="0"/>
              <a:t>Packets from 192.16810.0/24 will still be able to reach 192.168.31.0/24.</a:t>
            </a:r>
          </a:p>
          <a:p>
            <a:endParaRPr lang="en-IE"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Extended ACL Placement</a:t>
            </a:r>
          </a:p>
        </p:txBody>
      </p:sp>
      <p:sp>
        <p:nvSpPr>
          <p:cNvPr id="3" name="Content Placeholder 2"/>
          <p:cNvSpPr>
            <a:spLocks noGrp="1"/>
          </p:cNvSpPr>
          <p:nvPr>
            <p:ph idx="1"/>
          </p:nvPr>
        </p:nvSpPr>
        <p:spPr/>
        <p:txBody>
          <a:bodyPr>
            <a:normAutofit fontScale="85000" lnSpcReduction="20000"/>
          </a:bodyPr>
          <a:lstStyle/>
          <a:p>
            <a:r>
              <a:rPr lang="en-IE" dirty="0"/>
              <a:t>Like a standard ACL, an extended ACL can filter traffic based on the source address.</a:t>
            </a:r>
          </a:p>
          <a:p>
            <a:r>
              <a:rPr lang="en-IE" dirty="0"/>
              <a:t>However, an extended ACL can also filter traffic based on the destination address, protocol, and port number. </a:t>
            </a:r>
          </a:p>
          <a:p>
            <a:r>
              <a:rPr lang="en-IE" dirty="0"/>
              <a:t>This allows network administrators more flexibility in the type of traffic that can be filtered and where to place the ACL. </a:t>
            </a:r>
          </a:p>
          <a:p>
            <a:r>
              <a:rPr lang="en-IE" u="sng" dirty="0"/>
              <a:t>The basic rule for placing an extended ACL is to place it as close to the source as possible. </a:t>
            </a:r>
          </a:p>
          <a:p>
            <a:r>
              <a:rPr lang="en-IE" dirty="0"/>
              <a:t>This prevents unwanted traffic from being sent across multiple networks only to be denied when it reaches its destination.</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normAutofit/>
          </a:bodyPr>
          <a:lstStyle/>
          <a:p>
            <a:r>
              <a:rPr lang="en-IE" dirty="0"/>
              <a:t>Network administrators can only place ACLs on devices that they control. </a:t>
            </a:r>
          </a:p>
          <a:p>
            <a:r>
              <a:rPr lang="en-IE" dirty="0"/>
              <a:t>Therefore, placement must be determined in the context of where the control of the network administrator extends.</a:t>
            </a:r>
          </a:p>
          <a:p>
            <a:endParaRPr lang="en-IE"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E" dirty="0"/>
              <a:t>Example of Extended ACL Placement </a:t>
            </a:r>
          </a:p>
        </p:txBody>
      </p:sp>
      <p:sp>
        <p:nvSpPr>
          <p:cNvPr id="3" name="Content Placeholder 2"/>
          <p:cNvSpPr>
            <a:spLocks noGrp="1"/>
          </p:cNvSpPr>
          <p:nvPr>
            <p:ph idx="1"/>
          </p:nvPr>
        </p:nvSpPr>
        <p:spPr/>
        <p:txBody>
          <a:bodyPr>
            <a:normAutofit fontScale="92500"/>
          </a:bodyPr>
          <a:lstStyle/>
          <a:p>
            <a:r>
              <a:rPr lang="en-IE" dirty="0"/>
              <a:t>An administrator of Company A, which includes the 192.168.10.0/24 and 192.168.11.0/24 networks  wants to control traffic to Company B.</a:t>
            </a:r>
          </a:p>
          <a:p>
            <a:r>
              <a:rPr lang="en-IE" dirty="0"/>
              <a:t>Specifically, the administrator wants to deny Telnet and FTP traffic from the .11 network to Company B’s 192.168.30.0/24 network. </a:t>
            </a:r>
          </a:p>
          <a:p>
            <a:r>
              <a:rPr lang="en-IE" dirty="0"/>
              <a:t>At the same time, all other traffic from the .11 network must be permitted to leave Company A without restriction.</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pic>
        <p:nvPicPr>
          <p:cNvPr id="8194" name="Picture 2"/>
          <p:cNvPicPr>
            <a:picLocks noGrp="1" noChangeAspect="1" noChangeArrowheads="1"/>
          </p:cNvPicPr>
          <p:nvPr>
            <p:ph idx="1"/>
          </p:nvPr>
        </p:nvPicPr>
        <p:blipFill>
          <a:blip r:embed="rId2" cstate="print"/>
          <a:srcRect/>
          <a:stretch>
            <a:fillRect/>
          </a:stretch>
        </p:blipFill>
        <p:spPr bwMode="auto">
          <a:xfrm>
            <a:off x="1830239" y="1600200"/>
            <a:ext cx="5483522" cy="4525963"/>
          </a:xfrm>
          <a:prstGeom prst="rect">
            <a:avLst/>
          </a:prstGeom>
          <a:noFill/>
          <a:ln w="9525">
            <a:noFill/>
            <a:miter lim="800000"/>
            <a:headEnd/>
            <a:tailEnd/>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Solution 1???</a:t>
            </a:r>
          </a:p>
        </p:txBody>
      </p:sp>
      <p:sp>
        <p:nvSpPr>
          <p:cNvPr id="3" name="Content Placeholder 2"/>
          <p:cNvSpPr>
            <a:spLocks noGrp="1"/>
          </p:cNvSpPr>
          <p:nvPr>
            <p:ph idx="1"/>
          </p:nvPr>
        </p:nvSpPr>
        <p:spPr/>
        <p:txBody>
          <a:bodyPr>
            <a:normAutofit fontScale="92500"/>
          </a:bodyPr>
          <a:lstStyle/>
          <a:p>
            <a:r>
              <a:rPr lang="en-IE" dirty="0"/>
              <a:t>There are several ways to accomplish these goals. </a:t>
            </a:r>
          </a:p>
          <a:p>
            <a:r>
              <a:rPr lang="en-IE" dirty="0"/>
              <a:t>An extended ACL on R3 that blocks Telnet and FTP from the .11 network would accomplish the task, but the administrator does not control R3. In addition, this solution also allows unwanted traffic to cross the entire network, only to be blocked at the destination. </a:t>
            </a:r>
          </a:p>
          <a:p>
            <a:r>
              <a:rPr lang="en-IE" dirty="0"/>
              <a:t>This affects overall network efficiency.</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lstStyle/>
          <a:p>
            <a:r>
              <a:rPr lang="en-IE" dirty="0"/>
              <a:t>A better solution is to place an extended ACL on R1 that specifies both source and destination addresses (.11 network and .30 network, respectively), and enforces the rule, "Telnet and FTP traffic from the .11 network is not allowed to go to the .30 network."</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Which interface???</a:t>
            </a:r>
          </a:p>
        </p:txBody>
      </p:sp>
      <p:pic>
        <p:nvPicPr>
          <p:cNvPr id="9218" name="Picture 2"/>
          <p:cNvPicPr>
            <a:picLocks noGrp="1" noChangeAspect="1" noChangeArrowheads="1"/>
          </p:cNvPicPr>
          <p:nvPr>
            <p:ph idx="1"/>
          </p:nvPr>
        </p:nvPicPr>
        <p:blipFill>
          <a:blip r:embed="rId2" cstate="print"/>
          <a:srcRect/>
          <a:stretch>
            <a:fillRect/>
          </a:stretch>
        </p:blipFill>
        <p:spPr bwMode="auto">
          <a:xfrm>
            <a:off x="1830239" y="1600200"/>
            <a:ext cx="5483522" cy="4525963"/>
          </a:xfrm>
          <a:prstGeom prst="rect">
            <a:avLst/>
          </a:prstGeom>
          <a:noFill/>
          <a:ln w="9525">
            <a:noFill/>
            <a:miter lim="800000"/>
            <a:headEnd/>
            <a:tailEnd/>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dirty="0"/>
          </a:p>
        </p:txBody>
      </p:sp>
      <p:sp>
        <p:nvSpPr>
          <p:cNvPr id="3" name="Content Placeholder 2"/>
          <p:cNvSpPr>
            <a:spLocks noGrp="1"/>
          </p:cNvSpPr>
          <p:nvPr>
            <p:ph idx="1"/>
          </p:nvPr>
        </p:nvSpPr>
        <p:spPr/>
        <p:txBody>
          <a:bodyPr>
            <a:normAutofit fontScale="85000" lnSpcReduction="20000"/>
          </a:bodyPr>
          <a:lstStyle/>
          <a:p>
            <a:r>
              <a:rPr lang="en-IE" b="1" dirty="0"/>
              <a:t>R1 S0/0/0 interface (outbound) </a:t>
            </a:r>
            <a:r>
              <a:rPr lang="en-IE" dirty="0"/>
              <a:t>- One possibility is to apply an extended ACL outbound on the S0/0/0 interface.</a:t>
            </a:r>
          </a:p>
          <a:p>
            <a:r>
              <a:rPr lang="en-IE" dirty="0"/>
              <a:t>Because the extended ACL can examine both source and destination addresses, only FTP and Telnet packets from 192.168.11.0/24 will be denied. </a:t>
            </a:r>
          </a:p>
          <a:p>
            <a:r>
              <a:rPr lang="en-IE" dirty="0"/>
              <a:t>Other traffic from 192.168.11.0/24 and other networks will be forwarded by R1. </a:t>
            </a:r>
          </a:p>
          <a:p>
            <a:r>
              <a:rPr lang="en-IE" dirty="0"/>
              <a:t>The disadvantage of placing the extended ACL on this interface is that all traffic exiting S0/0/0 must be processed by the ACL including packets from 192.168.10.0/24.</a:t>
            </a:r>
          </a:p>
          <a:p>
            <a:endParaRPr lang="en-IE"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Answer!</a:t>
            </a:r>
          </a:p>
        </p:txBody>
      </p:sp>
      <p:sp>
        <p:nvSpPr>
          <p:cNvPr id="3" name="Content Placeholder 2"/>
          <p:cNvSpPr>
            <a:spLocks noGrp="1"/>
          </p:cNvSpPr>
          <p:nvPr>
            <p:ph idx="1"/>
          </p:nvPr>
        </p:nvSpPr>
        <p:spPr/>
        <p:txBody>
          <a:bodyPr>
            <a:normAutofit lnSpcReduction="10000"/>
          </a:bodyPr>
          <a:lstStyle/>
          <a:p>
            <a:r>
              <a:rPr lang="en-IE" b="1" dirty="0"/>
              <a:t>R1 G0/1 interface (inbound) </a:t>
            </a:r>
            <a:r>
              <a:rPr lang="en-IE" dirty="0"/>
              <a:t>- Applying an extended ACL to traffic entering the G0/1 interface means that only packets from the 192.168.11.0/24 network are subject to ACL processing on R1.</a:t>
            </a:r>
          </a:p>
          <a:p>
            <a:r>
              <a:rPr lang="en-IE" dirty="0"/>
              <a:t> Because the filter is to be limited to only those packets leaving the 192.168.11.0/24 network, applying the extended ACL to G0/1 is the best solution.</a:t>
            </a:r>
          </a:p>
          <a:p>
            <a:endParaRPr lang="en-IE"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Standard ACL</a:t>
            </a:r>
          </a:p>
        </p:txBody>
      </p:sp>
      <p:sp>
        <p:nvSpPr>
          <p:cNvPr id="3" name="Content Placeholder 2"/>
          <p:cNvSpPr>
            <a:spLocks noGrp="1"/>
          </p:cNvSpPr>
          <p:nvPr>
            <p:ph idx="1"/>
          </p:nvPr>
        </p:nvSpPr>
        <p:spPr/>
        <p:txBody>
          <a:bodyPr>
            <a:normAutofit/>
          </a:bodyPr>
          <a:lstStyle/>
          <a:p>
            <a:r>
              <a:rPr lang="en-IE" dirty="0"/>
              <a:t>When traffic enters the router, the traffic is compared to all ACEs (</a:t>
            </a:r>
            <a:r>
              <a:rPr lang="en-IE"/>
              <a:t>AC Entries) </a:t>
            </a:r>
            <a:r>
              <a:rPr lang="en-IE" dirty="0"/>
              <a:t>in the order that the entries occur in the ACL.</a:t>
            </a:r>
          </a:p>
          <a:p>
            <a:r>
              <a:rPr lang="en-IE" dirty="0"/>
              <a:t> The router continues to process the </a:t>
            </a:r>
            <a:r>
              <a:rPr lang="en-IE" dirty="0" err="1"/>
              <a:t>ACEs</a:t>
            </a:r>
            <a:r>
              <a:rPr lang="en-IE" dirty="0"/>
              <a:t> until it finds a match. </a:t>
            </a:r>
          </a:p>
          <a:p>
            <a:r>
              <a:rPr lang="en-IE" dirty="0"/>
              <a:t>The router will process the packet based on the first match found and no other </a:t>
            </a:r>
            <a:r>
              <a:rPr lang="en-IE" dirty="0" err="1"/>
              <a:t>ACEs</a:t>
            </a:r>
            <a:r>
              <a:rPr lang="en-IE" dirty="0"/>
              <a:t> will be examined.</a:t>
            </a:r>
          </a:p>
          <a:p>
            <a:endParaRPr lang="en-IE"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Standard ACL</a:t>
            </a:r>
          </a:p>
        </p:txBody>
      </p:sp>
      <p:sp>
        <p:nvSpPr>
          <p:cNvPr id="3" name="Content Placeholder 2"/>
          <p:cNvSpPr>
            <a:spLocks noGrp="1"/>
          </p:cNvSpPr>
          <p:nvPr>
            <p:ph idx="1"/>
          </p:nvPr>
        </p:nvSpPr>
        <p:spPr/>
        <p:txBody>
          <a:bodyPr>
            <a:normAutofit fontScale="92500"/>
          </a:bodyPr>
          <a:lstStyle/>
          <a:p>
            <a:r>
              <a:rPr lang="en-IE" dirty="0"/>
              <a:t>If no matches are found when the router reaches the end of the list, the traffic is denied. </a:t>
            </a:r>
          </a:p>
          <a:p>
            <a:r>
              <a:rPr lang="en-IE" dirty="0"/>
              <a:t>This is because, by default, there is an </a:t>
            </a:r>
            <a:r>
              <a:rPr lang="en-IE" b="1" u="sng" dirty="0"/>
              <a:t>implied deny </a:t>
            </a:r>
            <a:r>
              <a:rPr lang="en-IE" dirty="0"/>
              <a:t>at the end of all </a:t>
            </a:r>
            <a:r>
              <a:rPr lang="en-IE" dirty="0" err="1"/>
              <a:t>ACLs</a:t>
            </a:r>
            <a:r>
              <a:rPr lang="en-IE" dirty="0"/>
              <a:t> for traffic that was not matched to a configured entry. </a:t>
            </a:r>
          </a:p>
          <a:p>
            <a:r>
              <a:rPr lang="en-IE" dirty="0"/>
              <a:t>A single-entry ACL with only one deny entry has the effect of denying all traffic.</a:t>
            </a:r>
          </a:p>
          <a:p>
            <a:r>
              <a:rPr lang="en-IE" dirty="0"/>
              <a:t> </a:t>
            </a:r>
            <a:r>
              <a:rPr lang="en-IE" u="sng" dirty="0"/>
              <a:t>At least one permit ACE must be configured in an ACL or all traffic is blocked.</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Standard ACL</a:t>
            </a:r>
          </a:p>
        </p:txBody>
      </p:sp>
      <p:pic>
        <p:nvPicPr>
          <p:cNvPr id="10242" name="Picture 2"/>
          <p:cNvPicPr>
            <a:picLocks noGrp="1" noChangeAspect="1" noChangeArrowheads="1"/>
          </p:cNvPicPr>
          <p:nvPr>
            <p:ph idx="1"/>
          </p:nvPr>
        </p:nvPicPr>
        <p:blipFill>
          <a:blip r:embed="rId2" cstate="print"/>
          <a:srcRect/>
          <a:stretch>
            <a:fillRect/>
          </a:stretch>
        </p:blipFill>
        <p:spPr bwMode="auto">
          <a:xfrm>
            <a:off x="1926281" y="1600200"/>
            <a:ext cx="5291438" cy="4525963"/>
          </a:xfrm>
          <a:prstGeom prst="rect">
            <a:avLst/>
          </a:prstGeom>
          <a:noFill/>
          <a:ln w="9525">
            <a:noFill/>
            <a:miter lim="800000"/>
            <a:headEnd/>
            <a:tailEnd/>
          </a:ln>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lstStyle/>
          <a:p>
            <a:r>
              <a:rPr lang="en-IE" dirty="0"/>
              <a:t>For the network in the previous figure, applying either ACL 1 or ACL 2 to the S0/0/0 interface of R1 in the outbound direction will have the same effect.</a:t>
            </a:r>
          </a:p>
          <a:p>
            <a:r>
              <a:rPr lang="en-IE" dirty="0"/>
              <a:t> Network 192.168.10.0 will be permitted to access the networks reachable through S0/0/0 while 192.168.11.0 will not be allowed to access those networks.</a:t>
            </a:r>
          </a:p>
          <a:p>
            <a:endParaRPr lang="en-IE" dirty="0"/>
          </a:p>
          <a:p>
            <a:endParaRPr lang="en-IE"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E" b="1" dirty="0"/>
              <a:t>Configuring Standard </a:t>
            </a:r>
            <a:r>
              <a:rPr lang="en-IE" b="1" dirty="0" err="1"/>
              <a:t>ACLs</a:t>
            </a:r>
            <a:br>
              <a:rPr lang="en-IE" dirty="0"/>
            </a:br>
            <a:endParaRPr lang="en-IE" dirty="0"/>
          </a:p>
        </p:txBody>
      </p:sp>
      <p:sp>
        <p:nvSpPr>
          <p:cNvPr id="3" name="Content Placeholder 2"/>
          <p:cNvSpPr>
            <a:spLocks noGrp="1"/>
          </p:cNvSpPr>
          <p:nvPr>
            <p:ph idx="1"/>
          </p:nvPr>
        </p:nvSpPr>
        <p:spPr/>
        <p:txBody>
          <a:bodyPr>
            <a:normAutofit fontScale="77500" lnSpcReduction="20000"/>
          </a:bodyPr>
          <a:lstStyle/>
          <a:p>
            <a:r>
              <a:rPr lang="en-IE" dirty="0"/>
              <a:t>To use numbered standard </a:t>
            </a:r>
            <a:r>
              <a:rPr lang="en-IE" dirty="0" err="1"/>
              <a:t>ACLs</a:t>
            </a:r>
            <a:r>
              <a:rPr lang="en-IE" dirty="0"/>
              <a:t> on a Cisco router, you must first create the standard ACL and then activate the ACL on an interface.</a:t>
            </a:r>
          </a:p>
          <a:p>
            <a:r>
              <a:rPr lang="en-IE" dirty="0"/>
              <a:t>The </a:t>
            </a:r>
            <a:r>
              <a:rPr lang="en-IE" b="1" dirty="0"/>
              <a:t>access-list</a:t>
            </a:r>
            <a:r>
              <a:rPr lang="en-IE" dirty="0"/>
              <a:t> global configuration command defines a standard ACL with a number in the range of 1 through 99.</a:t>
            </a:r>
          </a:p>
          <a:p>
            <a:r>
              <a:rPr lang="en-IE" dirty="0"/>
              <a:t>Cisco IOS Software Release 12.0.1 extended these numbers by allowing 1300 to 1999 to be used for standard ACLs. </a:t>
            </a:r>
          </a:p>
          <a:p>
            <a:r>
              <a:rPr lang="en-IE" dirty="0"/>
              <a:t>This allows for a maximum of 798 possible standard </a:t>
            </a:r>
            <a:r>
              <a:rPr lang="en-IE" dirty="0" err="1"/>
              <a:t>ACLs</a:t>
            </a:r>
            <a:r>
              <a:rPr lang="en-IE" dirty="0"/>
              <a:t>. </a:t>
            </a:r>
          </a:p>
          <a:p>
            <a:r>
              <a:rPr lang="en-IE" dirty="0"/>
              <a:t>These additional numbers are referred to as expanded IP </a:t>
            </a:r>
            <a:r>
              <a:rPr lang="en-IE" dirty="0" err="1"/>
              <a:t>ACLs</a:t>
            </a:r>
            <a:r>
              <a:rPr lang="en-IE" dirty="0"/>
              <a:t>.</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normAutofit/>
          </a:bodyPr>
          <a:lstStyle/>
          <a:p>
            <a:r>
              <a:rPr lang="en-IE" dirty="0"/>
              <a:t>The full syntax of the standard ACL command is as follows:</a:t>
            </a:r>
          </a:p>
          <a:p>
            <a:r>
              <a:rPr lang="en-IE" dirty="0"/>
              <a:t>Router(</a:t>
            </a:r>
            <a:r>
              <a:rPr lang="en-IE" dirty="0" err="1"/>
              <a:t>config</a:t>
            </a:r>
            <a:r>
              <a:rPr lang="en-IE" dirty="0"/>
              <a:t>)# </a:t>
            </a:r>
            <a:r>
              <a:rPr lang="en-IE" b="1" dirty="0"/>
              <a:t>access-</a:t>
            </a:r>
            <a:r>
              <a:rPr lang="en-IE" b="1" dirty="0" err="1"/>
              <a:t>list</a:t>
            </a:r>
            <a:r>
              <a:rPr lang="en-IE" i="1" dirty="0" err="1"/>
              <a:t>access</a:t>
            </a:r>
            <a:r>
              <a:rPr lang="en-IE" i="1" dirty="0"/>
              <a:t>-list-number </a:t>
            </a:r>
            <a:r>
              <a:rPr lang="en-IE" dirty="0"/>
              <a:t>{ </a:t>
            </a:r>
            <a:r>
              <a:rPr lang="en-IE" b="1" dirty="0"/>
              <a:t>deny </a:t>
            </a:r>
            <a:r>
              <a:rPr lang="en-IE" dirty="0"/>
              <a:t>|</a:t>
            </a:r>
            <a:r>
              <a:rPr lang="en-IE" b="1" dirty="0"/>
              <a:t>permit </a:t>
            </a:r>
            <a:r>
              <a:rPr lang="en-IE" dirty="0"/>
              <a:t>| </a:t>
            </a:r>
            <a:r>
              <a:rPr lang="en-IE" b="1" dirty="0"/>
              <a:t>remark</a:t>
            </a:r>
            <a:r>
              <a:rPr lang="en-IE" dirty="0"/>
              <a:t> } </a:t>
            </a:r>
            <a:r>
              <a:rPr lang="en-IE" i="1" dirty="0"/>
              <a:t>source </a:t>
            </a:r>
            <a:r>
              <a:rPr lang="en-IE" dirty="0"/>
              <a:t>[</a:t>
            </a:r>
            <a:r>
              <a:rPr lang="en-IE" i="1" dirty="0"/>
              <a:t>source-wildcard</a:t>
            </a:r>
            <a:r>
              <a:rPr lang="en-IE" dirty="0"/>
              <a:t> ][ </a:t>
            </a:r>
            <a:r>
              <a:rPr lang="en-IE" b="1" dirty="0"/>
              <a:t>log</a:t>
            </a:r>
            <a:r>
              <a:rPr lang="en-IE" dirty="0"/>
              <a:t> ]</a:t>
            </a:r>
          </a:p>
          <a:p>
            <a:endParaRPr lang="en-IE"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normAutofit/>
          </a:bodyPr>
          <a:lstStyle/>
          <a:p>
            <a:r>
              <a:rPr lang="en-IE" dirty="0"/>
              <a:t>The next figure provides a detailed explanation of the syntax for a standard ACL.</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pic>
        <p:nvPicPr>
          <p:cNvPr id="11266" name="Picture 2"/>
          <p:cNvPicPr>
            <a:picLocks noGrp="1" noChangeAspect="1" noChangeArrowheads="1"/>
          </p:cNvPicPr>
          <p:nvPr>
            <p:ph idx="1"/>
          </p:nvPr>
        </p:nvPicPr>
        <p:blipFill>
          <a:blip r:embed="rId2" cstate="print"/>
          <a:srcRect/>
          <a:stretch>
            <a:fillRect/>
          </a:stretch>
        </p:blipFill>
        <p:spPr bwMode="auto">
          <a:xfrm>
            <a:off x="2124436" y="1600200"/>
            <a:ext cx="4895128" cy="4525963"/>
          </a:xfrm>
          <a:prstGeom prst="rect">
            <a:avLst/>
          </a:prstGeom>
          <a:noFill/>
          <a:ln w="9525">
            <a:noFill/>
            <a:miter lim="800000"/>
            <a:headEnd/>
            <a:tailEnd/>
          </a:ln>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normAutofit/>
          </a:bodyPr>
          <a:lstStyle/>
          <a:p>
            <a:r>
              <a:rPr lang="en-IE" dirty="0" err="1"/>
              <a:t>ACEs</a:t>
            </a:r>
            <a:r>
              <a:rPr lang="en-IE" dirty="0"/>
              <a:t> can deny or permit an individual host or a range of host addresses. </a:t>
            </a:r>
          </a:p>
          <a:p>
            <a:r>
              <a:rPr lang="en-IE" dirty="0"/>
              <a:t>To create a host statement in numbered ACL 10 that permits a specific host with the IP address 192.168.10.0, you would enter:</a:t>
            </a:r>
          </a:p>
          <a:p>
            <a:r>
              <a:rPr lang="en-IE" sz="2800" dirty="0"/>
              <a:t>R1(</a:t>
            </a:r>
            <a:r>
              <a:rPr lang="en-IE" sz="2800" dirty="0" err="1"/>
              <a:t>config</a:t>
            </a:r>
            <a:r>
              <a:rPr lang="en-IE" sz="2800" dirty="0"/>
              <a:t>)# </a:t>
            </a:r>
            <a:r>
              <a:rPr lang="en-IE" sz="2800" b="1" dirty="0"/>
              <a:t>access-list 10 permit host 192.168.10.10</a:t>
            </a:r>
            <a:endParaRPr lang="en-IE" sz="2800" dirty="0"/>
          </a:p>
          <a:p>
            <a:endParaRPr lang="en-IE"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normAutofit fontScale="92500" lnSpcReduction="20000"/>
          </a:bodyPr>
          <a:lstStyle/>
          <a:p>
            <a:r>
              <a:rPr lang="en-IE" dirty="0"/>
              <a:t>As shown in the next figure to create a statement that will permit a range of IPv4 addresses in a numbered ACL 10 that permits all IPv4 addresses in the network 192.168.10.0/24, you would enter:</a:t>
            </a:r>
          </a:p>
          <a:p>
            <a:r>
              <a:rPr lang="en-IE" sz="2800" dirty="0"/>
              <a:t>R1(</a:t>
            </a:r>
            <a:r>
              <a:rPr lang="en-IE" sz="2800" dirty="0" err="1"/>
              <a:t>config</a:t>
            </a:r>
            <a:r>
              <a:rPr lang="en-IE" sz="2800" dirty="0"/>
              <a:t>)# </a:t>
            </a:r>
            <a:r>
              <a:rPr lang="en-IE" sz="2800" b="1" dirty="0"/>
              <a:t>access-list 10 permit 192.168.10.0 0.0.0.255</a:t>
            </a:r>
            <a:endParaRPr lang="en-IE" sz="2800" dirty="0"/>
          </a:p>
          <a:p>
            <a:r>
              <a:rPr lang="en-IE" dirty="0"/>
              <a:t>To remove the ACL, </a:t>
            </a:r>
          </a:p>
          <a:p>
            <a:r>
              <a:rPr lang="en-IE" dirty="0"/>
              <a:t>the global configuration </a:t>
            </a:r>
            <a:r>
              <a:rPr lang="en-IE" b="1" dirty="0"/>
              <a:t>no access-list</a:t>
            </a:r>
            <a:r>
              <a:rPr lang="en-IE" dirty="0"/>
              <a:t> command is used.</a:t>
            </a:r>
          </a:p>
          <a:p>
            <a:r>
              <a:rPr lang="en-IE" dirty="0"/>
              <a:t>Issuing the </a:t>
            </a:r>
            <a:r>
              <a:rPr lang="en-IE" b="1" dirty="0"/>
              <a:t>show access-list</a:t>
            </a:r>
            <a:r>
              <a:rPr lang="en-IE" dirty="0"/>
              <a:t> command confirms that access list 10 has been removed.</a:t>
            </a:r>
          </a:p>
          <a:p>
            <a:endParaRPr lang="en-IE" dirty="0"/>
          </a:p>
          <a:p>
            <a:endParaRPr lang="en-IE"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pic>
        <p:nvPicPr>
          <p:cNvPr id="12290" name="Picture 2"/>
          <p:cNvPicPr>
            <a:picLocks noGrp="1" noChangeAspect="1" noChangeArrowheads="1"/>
          </p:cNvPicPr>
          <p:nvPr>
            <p:ph idx="1"/>
          </p:nvPr>
        </p:nvPicPr>
        <p:blipFill>
          <a:blip r:embed="rId2" cstate="print"/>
          <a:srcRect/>
          <a:stretch>
            <a:fillRect/>
          </a:stretch>
        </p:blipFill>
        <p:spPr bwMode="auto">
          <a:xfrm>
            <a:off x="1519237" y="1696244"/>
            <a:ext cx="6105525" cy="4333875"/>
          </a:xfrm>
          <a:prstGeom prst="rect">
            <a:avLst/>
          </a:prstGeom>
          <a:noFill/>
          <a:ln w="9525">
            <a:noFill/>
            <a:miter lim="800000"/>
            <a:headEnd/>
            <a:tailEnd/>
          </a:ln>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normAutofit fontScale="77500" lnSpcReduction="20000"/>
          </a:bodyPr>
          <a:lstStyle/>
          <a:p>
            <a:r>
              <a:rPr lang="en-IE" dirty="0"/>
              <a:t>Typically, when an administrator creates an ACL, the purpose of each statement is known and understood.</a:t>
            </a:r>
          </a:p>
          <a:p>
            <a:r>
              <a:rPr lang="en-IE" dirty="0"/>
              <a:t>However, to ensure that the administrator and others recall the purpose of a statement, remarks should be included.</a:t>
            </a:r>
          </a:p>
          <a:p>
            <a:r>
              <a:rPr lang="en-IE" dirty="0"/>
              <a:t>The </a:t>
            </a:r>
            <a:r>
              <a:rPr lang="en-IE" b="1" dirty="0"/>
              <a:t>remark</a:t>
            </a:r>
            <a:r>
              <a:rPr lang="en-IE" dirty="0"/>
              <a:t> keyword is used for documentation and makes access lists a great deal easier to understand. </a:t>
            </a:r>
          </a:p>
          <a:p>
            <a:r>
              <a:rPr lang="en-IE" dirty="0"/>
              <a:t>Each remark is limited to 100 characters.</a:t>
            </a:r>
          </a:p>
          <a:p>
            <a:r>
              <a:rPr lang="en-IE" dirty="0"/>
              <a:t>The ACL in the next figure, although fairly simple, is used to provide an example. </a:t>
            </a:r>
          </a:p>
          <a:p>
            <a:r>
              <a:rPr lang="en-IE" dirty="0"/>
              <a:t>When reviewing the ACL in the configuration using the </a:t>
            </a:r>
            <a:r>
              <a:rPr lang="en-IE" b="1" dirty="0"/>
              <a:t>show running-</a:t>
            </a:r>
            <a:r>
              <a:rPr lang="en-IE" b="1" dirty="0" err="1"/>
              <a:t>config</a:t>
            </a:r>
            <a:r>
              <a:rPr lang="en-IE" dirty="0"/>
              <a:t> command, the remark is also displayed.</a:t>
            </a:r>
          </a:p>
          <a:p>
            <a:endParaRPr lang="en-IE" dirty="0"/>
          </a:p>
          <a:p>
            <a:endParaRPr lang="en-IE"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pic>
        <p:nvPicPr>
          <p:cNvPr id="13314" name="Picture 2"/>
          <p:cNvPicPr>
            <a:picLocks noGrp="1" noChangeAspect="1" noChangeArrowheads="1"/>
          </p:cNvPicPr>
          <p:nvPr>
            <p:ph idx="1"/>
          </p:nvPr>
        </p:nvPicPr>
        <p:blipFill>
          <a:blip r:embed="rId2" cstate="print"/>
          <a:srcRect/>
          <a:stretch>
            <a:fillRect/>
          </a:stretch>
        </p:blipFill>
        <p:spPr bwMode="auto">
          <a:xfrm>
            <a:off x="1533525" y="2182019"/>
            <a:ext cx="6076950" cy="3362325"/>
          </a:xfrm>
          <a:prstGeom prst="rect">
            <a:avLst/>
          </a:prstGeom>
          <a:noFill/>
          <a:ln w="9525">
            <a:noFill/>
            <a:miter lim="800000"/>
            <a:headEnd/>
            <a:tailEnd/>
          </a:ln>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Order is Important!!</a:t>
            </a:r>
          </a:p>
        </p:txBody>
      </p:sp>
      <p:pic>
        <p:nvPicPr>
          <p:cNvPr id="14338" name="Picture 2"/>
          <p:cNvPicPr>
            <a:picLocks noGrp="1" noChangeAspect="1" noChangeArrowheads="1"/>
          </p:cNvPicPr>
          <p:nvPr>
            <p:ph idx="1"/>
          </p:nvPr>
        </p:nvPicPr>
        <p:blipFill>
          <a:blip r:embed="rId2" cstate="print"/>
          <a:srcRect/>
          <a:stretch>
            <a:fillRect/>
          </a:stretch>
        </p:blipFill>
        <p:spPr bwMode="auto">
          <a:xfrm>
            <a:off x="1462087" y="1977231"/>
            <a:ext cx="6219825" cy="3771900"/>
          </a:xfrm>
          <a:prstGeom prst="rect">
            <a:avLst/>
          </a:prstGeom>
          <a:noFill/>
          <a:ln w="9525">
            <a:noFill/>
            <a:miter lim="800000"/>
            <a:headEnd/>
            <a:tailEnd/>
          </a:ln>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Order is Important!!</a:t>
            </a:r>
          </a:p>
        </p:txBody>
      </p:sp>
      <p:pic>
        <p:nvPicPr>
          <p:cNvPr id="15362" name="Picture 2"/>
          <p:cNvPicPr>
            <a:picLocks noGrp="1" noChangeAspect="1" noChangeArrowheads="1"/>
          </p:cNvPicPr>
          <p:nvPr>
            <p:ph idx="1"/>
          </p:nvPr>
        </p:nvPicPr>
        <p:blipFill>
          <a:blip r:embed="rId2" cstate="print"/>
          <a:srcRect/>
          <a:stretch>
            <a:fillRect/>
          </a:stretch>
        </p:blipFill>
        <p:spPr bwMode="auto">
          <a:xfrm>
            <a:off x="1447800" y="2296319"/>
            <a:ext cx="6248400" cy="3133725"/>
          </a:xfrm>
          <a:prstGeom prst="rect">
            <a:avLst/>
          </a:prstGeom>
          <a:noFill/>
          <a:ln w="9525">
            <a:noFill/>
            <a:miter lim="800000"/>
            <a:headEnd/>
            <a:tailEnd/>
          </a:ln>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E" b="1" dirty="0"/>
              <a:t>Grouping ACLs</a:t>
            </a:r>
            <a:br>
              <a:rPr lang="en-IE" dirty="0"/>
            </a:br>
            <a:endParaRPr lang="en-IE" dirty="0"/>
          </a:p>
        </p:txBody>
      </p:sp>
      <p:sp>
        <p:nvSpPr>
          <p:cNvPr id="3" name="Content Placeholder 2"/>
          <p:cNvSpPr>
            <a:spLocks noGrp="1"/>
          </p:cNvSpPr>
          <p:nvPr>
            <p:ph idx="1"/>
          </p:nvPr>
        </p:nvSpPr>
        <p:spPr/>
        <p:txBody>
          <a:bodyPr>
            <a:normAutofit fontScale="85000" lnSpcReduction="10000"/>
          </a:bodyPr>
          <a:lstStyle/>
          <a:p>
            <a:r>
              <a:rPr lang="en-IE" dirty="0"/>
              <a:t>After a standard ACL is configured, it is linked to an interface using the </a:t>
            </a:r>
          </a:p>
          <a:p>
            <a:r>
              <a:rPr lang="en-IE" b="1" dirty="0" err="1"/>
              <a:t>ip</a:t>
            </a:r>
            <a:r>
              <a:rPr lang="en-IE" b="1" dirty="0"/>
              <a:t> access-group</a:t>
            </a:r>
            <a:r>
              <a:rPr lang="en-IE" dirty="0"/>
              <a:t> command in interface configuration mode:</a:t>
            </a:r>
          </a:p>
          <a:p>
            <a:pPr>
              <a:buNone/>
            </a:pPr>
            <a:endParaRPr lang="en-IE" dirty="0"/>
          </a:p>
          <a:p>
            <a:r>
              <a:rPr lang="en-IE" dirty="0"/>
              <a:t>To remove an ACL from an interface, first enter the</a:t>
            </a:r>
          </a:p>
          <a:p>
            <a:r>
              <a:rPr lang="en-IE" b="1" dirty="0"/>
              <a:t>no </a:t>
            </a:r>
            <a:r>
              <a:rPr lang="en-IE" b="1" dirty="0" err="1"/>
              <a:t>ip</a:t>
            </a:r>
            <a:r>
              <a:rPr lang="en-IE" b="1" dirty="0"/>
              <a:t> access-group </a:t>
            </a:r>
            <a:r>
              <a:rPr lang="en-IE" dirty="0"/>
              <a:t>command on the interface, and then </a:t>
            </a:r>
          </a:p>
          <a:p>
            <a:r>
              <a:rPr lang="en-IE" dirty="0"/>
              <a:t>enter the global </a:t>
            </a:r>
            <a:r>
              <a:rPr lang="en-IE" b="1" dirty="0"/>
              <a:t>no access-list</a:t>
            </a:r>
            <a:r>
              <a:rPr lang="en-IE" dirty="0"/>
              <a:t> command to remove the entire ACL.</a:t>
            </a:r>
          </a:p>
          <a:p>
            <a:endParaRPr lang="en-IE"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pic>
        <p:nvPicPr>
          <p:cNvPr id="16386" name="Picture 2"/>
          <p:cNvPicPr>
            <a:picLocks noGrp="1" noChangeAspect="1" noChangeArrowheads="1"/>
          </p:cNvPicPr>
          <p:nvPr>
            <p:ph idx="1"/>
          </p:nvPr>
        </p:nvPicPr>
        <p:blipFill>
          <a:blip r:embed="rId2" cstate="print"/>
          <a:srcRect/>
          <a:stretch>
            <a:fillRect/>
          </a:stretch>
        </p:blipFill>
        <p:spPr bwMode="auto">
          <a:xfrm>
            <a:off x="1979572" y="1600200"/>
            <a:ext cx="5184855" cy="4525963"/>
          </a:xfrm>
          <a:prstGeom prst="rect">
            <a:avLst/>
          </a:prstGeom>
          <a:noFill/>
          <a:ln w="9525">
            <a:noFill/>
            <a:miter lim="800000"/>
            <a:headEnd/>
            <a:tailEnd/>
          </a:ln>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normAutofit/>
          </a:bodyPr>
          <a:lstStyle/>
          <a:p>
            <a:r>
              <a:rPr lang="en-IE" dirty="0"/>
              <a:t>This ACL allows only traffic from source network 192.168.10.0 to be forwarded out of interface S0/0/0. </a:t>
            </a:r>
          </a:p>
          <a:p>
            <a:r>
              <a:rPr lang="en-IE" dirty="0"/>
              <a:t>Traffic from networks other than 192.168.10.0 is blocked.</a:t>
            </a:r>
          </a:p>
          <a:p>
            <a:r>
              <a:rPr lang="en-IE" dirty="0"/>
              <a:t>The first line identifies the ACL as access list 1.</a:t>
            </a:r>
          </a:p>
          <a:p>
            <a:r>
              <a:rPr lang="en-IE" dirty="0"/>
              <a:t> It permits traffic that matches the selected parameters. </a:t>
            </a:r>
          </a:p>
          <a:p>
            <a:endParaRPr lang="en-IE"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normAutofit fontScale="85000" lnSpcReduction="20000"/>
          </a:bodyPr>
          <a:lstStyle/>
          <a:p>
            <a:r>
              <a:rPr lang="en-IE" dirty="0"/>
              <a:t>In this case, the IPv4 address and wildcard mask identifying the source network is 192.168.10.0 0.0.0.255.</a:t>
            </a:r>
          </a:p>
          <a:p>
            <a:r>
              <a:rPr lang="en-IE" dirty="0"/>
              <a:t> Recall that there is an implicit deny all statement that is equivalent to adding the line</a:t>
            </a:r>
            <a:r>
              <a:rPr lang="en-IE" b="1" dirty="0"/>
              <a:t> </a:t>
            </a:r>
          </a:p>
          <a:p>
            <a:r>
              <a:rPr lang="en-IE" sz="2800" b="1" dirty="0"/>
              <a:t>access-list 1 deny 0.0.0.0 255.255.255.255</a:t>
            </a:r>
            <a:r>
              <a:rPr lang="en-IE" sz="2800" dirty="0"/>
              <a:t>.</a:t>
            </a:r>
          </a:p>
          <a:p>
            <a:r>
              <a:rPr lang="en-IE" dirty="0"/>
              <a:t>The </a:t>
            </a:r>
            <a:r>
              <a:rPr lang="en-IE" b="1" dirty="0" err="1"/>
              <a:t>ip</a:t>
            </a:r>
            <a:r>
              <a:rPr lang="en-IE" b="1" dirty="0"/>
              <a:t> access-group 1 out</a:t>
            </a:r>
            <a:r>
              <a:rPr lang="en-IE" dirty="0"/>
              <a:t> interface configuration command links and ties ACL 1 to the Serial 0/0/0 interface as an outbound filter.</a:t>
            </a:r>
          </a:p>
          <a:p>
            <a:r>
              <a:rPr lang="en-IE" dirty="0"/>
              <a:t>Therefore, ACL 1 only permits hosts from the 192.168.10.0/24 network to exit router R1. It denies any other network including the 192.168.11.0 network.</a:t>
            </a:r>
          </a:p>
          <a:p>
            <a:endParaRPr lang="en-IE"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pic>
        <p:nvPicPr>
          <p:cNvPr id="17410" name="Picture 2"/>
          <p:cNvPicPr>
            <a:picLocks noGrp="1" noChangeAspect="1" noChangeArrowheads="1"/>
          </p:cNvPicPr>
          <p:nvPr>
            <p:ph idx="1"/>
          </p:nvPr>
        </p:nvPicPr>
        <p:blipFill>
          <a:blip r:embed="rId2" cstate="print"/>
          <a:srcRect/>
          <a:stretch>
            <a:fillRect/>
          </a:stretch>
        </p:blipFill>
        <p:spPr bwMode="auto">
          <a:xfrm>
            <a:off x="2198018" y="1600200"/>
            <a:ext cx="4747964" cy="4525963"/>
          </a:xfrm>
          <a:prstGeom prst="rect">
            <a:avLst/>
          </a:prstGeom>
          <a:noFill/>
          <a:ln w="9525">
            <a:noFill/>
            <a:miter lim="800000"/>
            <a:headEnd/>
            <a:tailEnd/>
          </a:ln>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pic>
        <p:nvPicPr>
          <p:cNvPr id="18434" name="Picture 2"/>
          <p:cNvPicPr>
            <a:picLocks noGrp="1" noChangeAspect="1" noChangeArrowheads="1"/>
          </p:cNvPicPr>
          <p:nvPr>
            <p:ph idx="1"/>
          </p:nvPr>
        </p:nvPicPr>
        <p:blipFill>
          <a:blip r:embed="rId2" cstate="print"/>
          <a:srcRect/>
          <a:stretch>
            <a:fillRect/>
          </a:stretch>
        </p:blipFill>
        <p:spPr bwMode="auto">
          <a:xfrm>
            <a:off x="2084998" y="1600200"/>
            <a:ext cx="4974003" cy="4525963"/>
          </a:xfrm>
          <a:prstGeom prst="rect">
            <a:avLst/>
          </a:prstGeom>
          <a:noFill/>
          <a:ln w="9525">
            <a:noFill/>
            <a:miter lim="800000"/>
            <a:headEnd/>
            <a:tailEnd/>
          </a:ln>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pic>
        <p:nvPicPr>
          <p:cNvPr id="19458" name="Picture 2"/>
          <p:cNvPicPr>
            <a:picLocks noGrp="1" noChangeAspect="1" noChangeArrowheads="1"/>
          </p:cNvPicPr>
          <p:nvPr>
            <p:ph idx="1"/>
          </p:nvPr>
        </p:nvPicPr>
        <p:blipFill>
          <a:blip r:embed="rId2" cstate="print"/>
          <a:srcRect/>
          <a:stretch>
            <a:fillRect/>
          </a:stretch>
        </p:blipFill>
        <p:spPr bwMode="auto">
          <a:xfrm>
            <a:off x="1969374" y="1600200"/>
            <a:ext cx="5205252" cy="4525963"/>
          </a:xfrm>
          <a:prstGeom prst="rect">
            <a:avLst/>
          </a:prstGeom>
          <a:noFill/>
          <a:ln w="9525">
            <a:noFill/>
            <a:miter lim="800000"/>
            <a:headEnd/>
            <a:tailEnd/>
          </a:ln>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sp>
        <p:nvSpPr>
          <p:cNvPr id="3" name="Content Placeholder 2"/>
          <p:cNvSpPr>
            <a:spLocks noGrp="1"/>
          </p:cNvSpPr>
          <p:nvPr>
            <p:ph idx="1"/>
          </p:nvPr>
        </p:nvSpPr>
        <p:spPr/>
        <p:txBody>
          <a:bodyPr/>
          <a:lstStyle/>
          <a:p>
            <a:r>
              <a:rPr lang="en-IE" dirty="0"/>
              <a:t>Naming an ACL makes it easier to understand its function. </a:t>
            </a:r>
          </a:p>
          <a:p>
            <a:r>
              <a:rPr lang="en-IE" dirty="0"/>
              <a:t>For example, an ACL configured to deny FTP could be called NO_FTP. </a:t>
            </a:r>
          </a:p>
          <a:p>
            <a:r>
              <a:rPr lang="en-IE" dirty="0"/>
              <a:t>When you identify your ACL with a name instead of with a number, the configuration mode and command syntax are slightly different.</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pic>
        <p:nvPicPr>
          <p:cNvPr id="20482" name="Picture 2"/>
          <p:cNvPicPr>
            <a:picLocks noGrp="1" noChangeAspect="1" noChangeArrowheads="1"/>
          </p:cNvPicPr>
          <p:nvPr>
            <p:ph idx="1"/>
          </p:nvPr>
        </p:nvPicPr>
        <p:blipFill>
          <a:blip r:embed="rId2" cstate="print"/>
          <a:srcRect/>
          <a:stretch>
            <a:fillRect/>
          </a:stretch>
        </p:blipFill>
        <p:spPr bwMode="auto">
          <a:xfrm>
            <a:off x="1996474" y="1600200"/>
            <a:ext cx="5151052" cy="4525963"/>
          </a:xfrm>
          <a:prstGeom prst="rect">
            <a:avLst/>
          </a:prstGeom>
          <a:noFill/>
          <a:ln w="9525">
            <a:noFill/>
            <a:miter lim="800000"/>
            <a:headEnd/>
            <a:tailEnd/>
          </a:ln>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E"/>
          </a:p>
        </p:txBody>
      </p:sp>
      <p:pic>
        <p:nvPicPr>
          <p:cNvPr id="21506" name="Picture 2"/>
          <p:cNvPicPr>
            <a:picLocks noGrp="1" noChangeAspect="1" noChangeArrowheads="1"/>
          </p:cNvPicPr>
          <p:nvPr>
            <p:ph idx="1"/>
          </p:nvPr>
        </p:nvPicPr>
        <p:blipFill>
          <a:blip r:embed="rId2" cstate="print"/>
          <a:srcRect/>
          <a:stretch>
            <a:fillRect/>
          </a:stretch>
        </p:blipFill>
        <p:spPr bwMode="auto">
          <a:xfrm>
            <a:off x="2163019" y="1600200"/>
            <a:ext cx="4817961" cy="4525963"/>
          </a:xfrm>
          <a:prstGeom prst="rect">
            <a:avLst/>
          </a:prstGeom>
          <a:noFill/>
          <a:ln w="9525">
            <a:noFill/>
            <a:miter lim="800000"/>
            <a:headEnd/>
            <a:tailEnd/>
          </a:ln>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Extended  ACL’s</a:t>
            </a:r>
          </a:p>
        </p:txBody>
      </p:sp>
      <p:pic>
        <p:nvPicPr>
          <p:cNvPr id="1026" name="Picture 2"/>
          <p:cNvPicPr>
            <a:picLocks noGrp="1" noChangeAspect="1" noChangeArrowheads="1"/>
          </p:cNvPicPr>
          <p:nvPr>
            <p:ph idx="1"/>
          </p:nvPr>
        </p:nvPicPr>
        <p:blipFill>
          <a:blip r:embed="rId2" cstate="print"/>
          <a:srcRect/>
          <a:stretch>
            <a:fillRect/>
          </a:stretch>
        </p:blipFill>
        <p:spPr bwMode="auto">
          <a:xfrm>
            <a:off x="1761317" y="1600200"/>
            <a:ext cx="5621365" cy="4525963"/>
          </a:xfrm>
          <a:prstGeom prst="rect">
            <a:avLst/>
          </a:prstGeom>
          <a:noFill/>
          <a:ln w="9525">
            <a:noFill/>
            <a:miter lim="800000"/>
            <a:headEnd/>
            <a:tailEnd/>
          </a:ln>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Extended  ACL’s</a:t>
            </a:r>
          </a:p>
        </p:txBody>
      </p:sp>
      <p:pic>
        <p:nvPicPr>
          <p:cNvPr id="2050" name="Picture 2"/>
          <p:cNvPicPr>
            <a:picLocks noGrp="1" noChangeAspect="1" noChangeArrowheads="1"/>
          </p:cNvPicPr>
          <p:nvPr>
            <p:ph idx="1"/>
          </p:nvPr>
        </p:nvPicPr>
        <p:blipFill>
          <a:blip r:embed="rId2" cstate="print"/>
          <a:srcRect/>
          <a:stretch>
            <a:fillRect/>
          </a:stretch>
        </p:blipFill>
        <p:spPr bwMode="auto">
          <a:xfrm>
            <a:off x="2101269" y="1600200"/>
            <a:ext cx="4941461" cy="4525963"/>
          </a:xfrm>
          <a:prstGeom prst="rect">
            <a:avLst/>
          </a:prstGeom>
          <a:noFill/>
          <a:ln w="9525">
            <a:noFill/>
            <a:miter lim="800000"/>
            <a:headEnd/>
            <a:tailEnd/>
          </a:ln>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Extended  ACL’s</a:t>
            </a:r>
          </a:p>
        </p:txBody>
      </p:sp>
      <p:pic>
        <p:nvPicPr>
          <p:cNvPr id="3074" name="Picture 2"/>
          <p:cNvPicPr>
            <a:picLocks noGrp="1" noChangeAspect="1" noChangeArrowheads="1"/>
          </p:cNvPicPr>
          <p:nvPr>
            <p:ph idx="1"/>
          </p:nvPr>
        </p:nvPicPr>
        <p:blipFill>
          <a:blip r:embed="rId2" cstate="print"/>
          <a:srcRect/>
          <a:stretch>
            <a:fillRect/>
          </a:stretch>
        </p:blipFill>
        <p:spPr bwMode="auto">
          <a:xfrm>
            <a:off x="2211101" y="1600200"/>
            <a:ext cx="4721798" cy="4525963"/>
          </a:xfrm>
          <a:prstGeom prst="rect">
            <a:avLst/>
          </a:prstGeom>
          <a:noFill/>
          <a:ln w="9525">
            <a:noFill/>
            <a:miter lim="800000"/>
            <a:headEnd/>
            <a:tailEnd/>
          </a:ln>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Extended  ACL’s</a:t>
            </a:r>
          </a:p>
        </p:txBody>
      </p:sp>
      <p:pic>
        <p:nvPicPr>
          <p:cNvPr id="4098" name="Picture 2"/>
          <p:cNvPicPr>
            <a:picLocks noGrp="1" noChangeAspect="1" noChangeArrowheads="1"/>
          </p:cNvPicPr>
          <p:nvPr>
            <p:ph idx="1"/>
          </p:nvPr>
        </p:nvPicPr>
        <p:blipFill>
          <a:blip r:embed="rId2" cstate="print"/>
          <a:srcRect/>
          <a:stretch>
            <a:fillRect/>
          </a:stretch>
        </p:blipFill>
        <p:spPr bwMode="auto">
          <a:xfrm>
            <a:off x="1877974" y="1600200"/>
            <a:ext cx="5388051" cy="4525963"/>
          </a:xfrm>
          <a:prstGeom prst="rect">
            <a:avLst/>
          </a:prstGeom>
          <a:noFill/>
          <a:ln w="9525">
            <a:noFill/>
            <a:miter lim="800000"/>
            <a:headEnd/>
            <a:tailEnd/>
          </a:ln>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Extended  ACL’s</a:t>
            </a:r>
          </a:p>
        </p:txBody>
      </p:sp>
      <p:pic>
        <p:nvPicPr>
          <p:cNvPr id="5122" name="Picture 2"/>
          <p:cNvPicPr>
            <a:picLocks noGrp="1" noChangeAspect="1" noChangeArrowheads="1"/>
          </p:cNvPicPr>
          <p:nvPr>
            <p:ph idx="1"/>
          </p:nvPr>
        </p:nvPicPr>
        <p:blipFill>
          <a:blip r:embed="rId2" cstate="print"/>
          <a:srcRect/>
          <a:stretch>
            <a:fillRect/>
          </a:stretch>
        </p:blipFill>
        <p:spPr bwMode="auto">
          <a:xfrm>
            <a:off x="2049105" y="1600200"/>
            <a:ext cx="5045790" cy="4525963"/>
          </a:xfrm>
          <a:prstGeom prst="rect">
            <a:avLst/>
          </a:prstGeom>
          <a:noFill/>
          <a:ln w="9525">
            <a:noFill/>
            <a:miter lim="800000"/>
            <a:headEnd/>
            <a:tailEnd/>
          </a:ln>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Extended  ACL’s</a:t>
            </a:r>
          </a:p>
        </p:txBody>
      </p:sp>
      <p:pic>
        <p:nvPicPr>
          <p:cNvPr id="6146" name="Picture 2"/>
          <p:cNvPicPr>
            <a:picLocks noGrp="1" noChangeAspect="1" noChangeArrowheads="1"/>
          </p:cNvPicPr>
          <p:nvPr>
            <p:ph idx="1"/>
          </p:nvPr>
        </p:nvPicPr>
        <p:blipFill>
          <a:blip r:embed="rId2" cstate="print"/>
          <a:srcRect/>
          <a:stretch>
            <a:fillRect/>
          </a:stretch>
        </p:blipFill>
        <p:spPr bwMode="auto">
          <a:xfrm>
            <a:off x="2254966" y="1600200"/>
            <a:ext cx="4634067" cy="4525963"/>
          </a:xfrm>
          <a:prstGeom prst="rect">
            <a:avLst/>
          </a:prstGeom>
          <a:noFill/>
          <a:ln w="9525">
            <a:noFill/>
            <a:miter lim="800000"/>
            <a:headEnd/>
            <a:tailEnd/>
          </a:ln>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a:t>Extended  ACL’s</a:t>
            </a:r>
          </a:p>
        </p:txBody>
      </p:sp>
      <p:pic>
        <p:nvPicPr>
          <p:cNvPr id="7170" name="Picture 2"/>
          <p:cNvPicPr>
            <a:picLocks noGrp="1" noChangeAspect="1" noChangeArrowheads="1"/>
          </p:cNvPicPr>
          <p:nvPr>
            <p:ph idx="1"/>
          </p:nvPr>
        </p:nvPicPr>
        <p:blipFill>
          <a:blip r:embed="rId2" cstate="print"/>
          <a:srcRect/>
          <a:stretch>
            <a:fillRect/>
          </a:stretch>
        </p:blipFill>
        <p:spPr bwMode="auto">
          <a:xfrm>
            <a:off x="2265638" y="1600200"/>
            <a:ext cx="4612723" cy="4525963"/>
          </a:xfrm>
          <a:prstGeom prst="rect">
            <a:avLst/>
          </a:prstGeom>
          <a:noFill/>
          <a:ln w="9525">
            <a:noFill/>
            <a:miter lim="800000"/>
            <a:headEnd/>
            <a:tailEnd/>
          </a:ln>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EEADB-B105-824E-6EDE-9D7A9090C091}"/>
              </a:ext>
            </a:extLst>
          </p:cNvPr>
          <p:cNvSpPr>
            <a:spLocks noGrp="1"/>
          </p:cNvSpPr>
          <p:nvPr>
            <p:ph type="title"/>
          </p:nvPr>
        </p:nvSpPr>
        <p:spPr/>
        <p:txBody>
          <a:bodyPr/>
          <a:lstStyle/>
          <a:p>
            <a:r>
              <a:rPr lang="en-US" dirty="0"/>
              <a:t>Summary</a:t>
            </a:r>
            <a:endParaRPr lang="en-IE" dirty="0"/>
          </a:p>
        </p:txBody>
      </p:sp>
      <p:sp>
        <p:nvSpPr>
          <p:cNvPr id="3" name="Content Placeholder 2">
            <a:extLst>
              <a:ext uri="{FF2B5EF4-FFF2-40B4-BE49-F238E27FC236}">
                <a16:creationId xmlns:a16="http://schemas.microsoft.com/office/drawing/2014/main" id="{357774AD-8D59-D607-98AD-BF1CA11AB01E}"/>
              </a:ext>
            </a:extLst>
          </p:cNvPr>
          <p:cNvSpPr>
            <a:spLocks noGrp="1"/>
          </p:cNvSpPr>
          <p:nvPr>
            <p:ph idx="1"/>
          </p:nvPr>
        </p:nvSpPr>
        <p:spPr/>
        <p:txBody>
          <a:bodyPr>
            <a:normAutofit/>
          </a:bodyPr>
          <a:lstStyle/>
          <a:p>
            <a:r>
              <a:rPr lang="en-US" dirty="0"/>
              <a:t>2 steps to configure;</a:t>
            </a:r>
          </a:p>
          <a:p>
            <a:r>
              <a:rPr lang="en-US" dirty="0"/>
              <a:t>Write and Group</a:t>
            </a:r>
          </a:p>
          <a:p>
            <a:r>
              <a:rPr lang="en-US" dirty="0"/>
              <a:t>2 types;</a:t>
            </a:r>
          </a:p>
          <a:p>
            <a:r>
              <a:rPr lang="en-US" dirty="0"/>
              <a:t>Standard and Extended</a:t>
            </a:r>
          </a:p>
          <a:p>
            <a:pPr marL="0" indent="0">
              <a:buNone/>
            </a:pPr>
            <a:endParaRPr lang="en-US" dirty="0"/>
          </a:p>
          <a:p>
            <a:endParaRPr lang="en-US" dirty="0"/>
          </a:p>
          <a:p>
            <a:endParaRPr lang="en-IE" dirty="0"/>
          </a:p>
        </p:txBody>
      </p:sp>
    </p:spTree>
    <p:extLst>
      <p:ext uri="{BB962C8B-B14F-4D97-AF65-F5344CB8AC3E}">
        <p14:creationId xmlns:p14="http://schemas.microsoft.com/office/powerpoint/2010/main" val="386251805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9CBFE-1EEB-1A78-7A0F-9E6AB17BD638}"/>
              </a:ext>
            </a:extLst>
          </p:cNvPr>
          <p:cNvSpPr>
            <a:spLocks noGrp="1"/>
          </p:cNvSpPr>
          <p:nvPr>
            <p:ph type="title"/>
          </p:nvPr>
        </p:nvSpPr>
        <p:spPr/>
        <p:txBody>
          <a:bodyPr/>
          <a:lstStyle/>
          <a:p>
            <a:endParaRPr lang="en-IE"/>
          </a:p>
        </p:txBody>
      </p:sp>
      <p:sp>
        <p:nvSpPr>
          <p:cNvPr id="3" name="Content Placeholder 2">
            <a:extLst>
              <a:ext uri="{FF2B5EF4-FFF2-40B4-BE49-F238E27FC236}">
                <a16:creationId xmlns:a16="http://schemas.microsoft.com/office/drawing/2014/main" id="{3663323D-18AE-6EF9-EAF8-B1718F4FA7B8}"/>
              </a:ext>
            </a:extLst>
          </p:cNvPr>
          <p:cNvSpPr>
            <a:spLocks noGrp="1"/>
          </p:cNvSpPr>
          <p:nvPr>
            <p:ph idx="1"/>
          </p:nvPr>
        </p:nvSpPr>
        <p:spPr/>
        <p:txBody>
          <a:bodyPr/>
          <a:lstStyle/>
          <a:p>
            <a:r>
              <a:rPr lang="en-US" dirty="0"/>
              <a:t>Placement Important;</a:t>
            </a:r>
          </a:p>
          <a:p>
            <a:r>
              <a:rPr lang="en-US" dirty="0"/>
              <a:t>Standard ACL –close </a:t>
            </a:r>
            <a:r>
              <a:rPr lang="en-US" dirty="0">
                <a:solidFill>
                  <a:srgbClr val="FF0000"/>
                </a:solidFill>
              </a:rPr>
              <a:t>as possible </a:t>
            </a:r>
            <a:r>
              <a:rPr lang="en-US" dirty="0"/>
              <a:t>to destination.</a:t>
            </a:r>
          </a:p>
          <a:p>
            <a:r>
              <a:rPr lang="en-US" dirty="0"/>
              <a:t>Not always but Standard usually exit a router.</a:t>
            </a:r>
          </a:p>
          <a:p>
            <a:r>
              <a:rPr lang="en-US" dirty="0"/>
              <a:t>Extended ACL- close </a:t>
            </a:r>
            <a:r>
              <a:rPr lang="en-US" dirty="0">
                <a:solidFill>
                  <a:srgbClr val="FF0000"/>
                </a:solidFill>
              </a:rPr>
              <a:t>as possible </a:t>
            </a:r>
            <a:r>
              <a:rPr lang="en-US" dirty="0"/>
              <a:t>to the source.</a:t>
            </a:r>
          </a:p>
          <a:p>
            <a:r>
              <a:rPr lang="en-US" dirty="0"/>
              <a:t>Not always but extended usually enter a router</a:t>
            </a:r>
          </a:p>
          <a:p>
            <a:endParaRPr lang="en-IE" dirty="0"/>
          </a:p>
        </p:txBody>
      </p:sp>
    </p:spTree>
    <p:extLst>
      <p:ext uri="{BB962C8B-B14F-4D97-AF65-F5344CB8AC3E}">
        <p14:creationId xmlns:p14="http://schemas.microsoft.com/office/powerpoint/2010/main" val="390842276"/>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EE54C1-8CE4-064E-6D8E-2DE32CD53F1A}"/>
              </a:ext>
            </a:extLst>
          </p:cNvPr>
          <p:cNvSpPr>
            <a:spLocks noGrp="1"/>
          </p:cNvSpPr>
          <p:nvPr>
            <p:ph type="title"/>
          </p:nvPr>
        </p:nvSpPr>
        <p:spPr/>
        <p:txBody>
          <a:bodyPr/>
          <a:lstStyle/>
          <a:p>
            <a:r>
              <a:rPr lang="en-US" dirty="0"/>
              <a:t>Summary</a:t>
            </a:r>
            <a:endParaRPr lang="en-IE" dirty="0"/>
          </a:p>
        </p:txBody>
      </p:sp>
      <p:sp>
        <p:nvSpPr>
          <p:cNvPr id="3" name="Content Placeholder 2">
            <a:extLst>
              <a:ext uri="{FF2B5EF4-FFF2-40B4-BE49-F238E27FC236}">
                <a16:creationId xmlns:a16="http://schemas.microsoft.com/office/drawing/2014/main" id="{CE95AC7F-7384-BFC1-72B1-32D9653ADFA7}"/>
              </a:ext>
            </a:extLst>
          </p:cNvPr>
          <p:cNvSpPr>
            <a:spLocks noGrp="1"/>
          </p:cNvSpPr>
          <p:nvPr>
            <p:ph idx="1"/>
          </p:nvPr>
        </p:nvSpPr>
        <p:spPr/>
        <p:txBody>
          <a:bodyPr/>
          <a:lstStyle/>
          <a:p>
            <a:r>
              <a:rPr lang="en-US" dirty="0"/>
              <a:t>Order is important</a:t>
            </a:r>
          </a:p>
          <a:p>
            <a:r>
              <a:rPr lang="en-US" dirty="0"/>
              <a:t>There is an implicit deny so….</a:t>
            </a:r>
          </a:p>
          <a:p>
            <a:r>
              <a:rPr lang="en-US" dirty="0"/>
              <a:t>You need at least one permit </a:t>
            </a:r>
            <a:r>
              <a:rPr lang="en-US"/>
              <a:t>in the ACL</a:t>
            </a:r>
            <a:endParaRPr lang="en-IE"/>
          </a:p>
        </p:txBody>
      </p:sp>
    </p:spTree>
    <p:extLst>
      <p:ext uri="{BB962C8B-B14F-4D97-AF65-F5344CB8AC3E}">
        <p14:creationId xmlns:p14="http://schemas.microsoft.com/office/powerpoint/2010/main" val="40201237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1990</TotalTime>
  <Words>3246</Words>
  <Application>Microsoft Office PowerPoint</Application>
  <PresentationFormat>On-screen Show (4:3)</PresentationFormat>
  <Paragraphs>247</Paragraphs>
  <Slides>103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103</vt:i4>
      </vt:variant>
    </vt:vector>
  </HeadingPairs>
  <TitlesOfParts>
    <vt:vector size="106" baseType="lpstr">
      <vt:lpstr>Arial</vt:lpstr>
      <vt:lpstr>Calibri</vt:lpstr>
      <vt:lpstr>Office Theme</vt:lpstr>
      <vt:lpstr>ACL</vt:lpstr>
      <vt:lpstr>PowerPoint Presentation</vt:lpstr>
      <vt:lpstr>PowerPoint Presentation</vt:lpstr>
      <vt:lpstr>Two Steps to configure</vt:lpstr>
      <vt:lpstr>PowerPoint Presentation</vt:lpstr>
      <vt:lpstr>PowerPoint Presentation</vt:lpstr>
      <vt:lpstr>Port Numbers</vt:lpstr>
      <vt:lpstr>PowerPoint Presentation</vt:lpstr>
      <vt:lpstr>PowerPoint Presentation</vt:lpstr>
      <vt:lpstr>PowerPoint Presentation</vt:lpstr>
      <vt:lpstr>Standard = Simple</vt:lpstr>
      <vt:lpstr>Previous slide =</vt:lpstr>
      <vt:lpstr>Extended =more complex </vt:lpstr>
      <vt:lpstr>Extended ACL</vt:lpstr>
      <vt:lpstr>Previous Slide</vt:lpstr>
      <vt:lpstr>Number/Name</vt:lpstr>
      <vt:lpstr>PowerPoint Presentation</vt:lpstr>
      <vt:lpstr>Numbering and Naming</vt:lpstr>
      <vt:lpstr>Wildcard Masking </vt:lpstr>
      <vt:lpstr>Wildcard Masking</vt:lpstr>
      <vt:lpstr>Examples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Standard Example</vt:lpstr>
      <vt:lpstr>Keywords =ANY and HOST</vt:lpstr>
      <vt:lpstr>Wildcard Bit Mask Keywords </vt:lpstr>
      <vt:lpstr>PowerPoint Presentation</vt:lpstr>
      <vt:lpstr>The any and host Keywords </vt:lpstr>
      <vt:lpstr>Example of any keyword</vt:lpstr>
      <vt:lpstr>PowerPoint Presentation</vt:lpstr>
      <vt:lpstr>Example of host keyword</vt:lpstr>
      <vt:lpstr>PowerPoint Presentation</vt:lpstr>
      <vt:lpstr>3 P’s</vt:lpstr>
      <vt:lpstr>PowerPoint Presentation</vt:lpstr>
      <vt:lpstr>The Three Ps </vt:lpstr>
      <vt:lpstr>3Ps</vt:lpstr>
      <vt:lpstr>PowerPoint Presentation</vt:lpstr>
      <vt:lpstr>PowerPoint Presentation</vt:lpstr>
      <vt:lpstr>Placement of ACL!!!</vt:lpstr>
      <vt:lpstr>Placement!</vt:lpstr>
      <vt:lpstr>PowerPoint Presentation</vt:lpstr>
      <vt:lpstr>PowerPoint Presentation</vt:lpstr>
      <vt:lpstr>PowerPoint Presentation</vt:lpstr>
      <vt:lpstr>Example</vt:lpstr>
      <vt:lpstr>Example </vt:lpstr>
      <vt:lpstr>Previous slide</vt:lpstr>
      <vt:lpstr>PowerPoint Presentation</vt:lpstr>
      <vt:lpstr>Where to Apply??</vt:lpstr>
      <vt:lpstr>Where to Apply??</vt:lpstr>
      <vt:lpstr>Extended ACL Placement</vt:lpstr>
      <vt:lpstr>PowerPoint Presentation</vt:lpstr>
      <vt:lpstr>Example of Extended ACL Placement </vt:lpstr>
      <vt:lpstr>PowerPoint Presentation</vt:lpstr>
      <vt:lpstr>Solution 1???</vt:lpstr>
      <vt:lpstr>PowerPoint Presentation</vt:lpstr>
      <vt:lpstr>Which interface???</vt:lpstr>
      <vt:lpstr>PowerPoint Presentation</vt:lpstr>
      <vt:lpstr>Answer!</vt:lpstr>
      <vt:lpstr>Standard ACL</vt:lpstr>
      <vt:lpstr>Standard ACL</vt:lpstr>
      <vt:lpstr>Standard ACL</vt:lpstr>
      <vt:lpstr>PowerPoint Presentation</vt:lpstr>
      <vt:lpstr>Configuring Standard ACLs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Order is Important!!</vt:lpstr>
      <vt:lpstr>Order is Important!!</vt:lpstr>
      <vt:lpstr>Grouping ACLs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Extended  ACL’s</vt:lpstr>
      <vt:lpstr>Extended  ACL’s</vt:lpstr>
      <vt:lpstr>Extended  ACL’s</vt:lpstr>
      <vt:lpstr>Extended  ACL’s</vt:lpstr>
      <vt:lpstr>Extended  ACL’s</vt:lpstr>
      <vt:lpstr>Extended  ACL’s</vt:lpstr>
      <vt:lpstr>Extended  ACL’s</vt:lpstr>
      <vt:lpstr>Summary</vt:lpstr>
      <vt:lpstr>PowerPoint Presentation</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martina quinn</dc:creator>
  <cp:lastModifiedBy>Martina Quinn</cp:lastModifiedBy>
  <cp:revision>24</cp:revision>
  <dcterms:created xsi:type="dcterms:W3CDTF">2014-03-18T08:57:49Z</dcterms:created>
  <dcterms:modified xsi:type="dcterms:W3CDTF">2024-10-11T11:46:17Z</dcterms:modified>
</cp:coreProperties>
</file>